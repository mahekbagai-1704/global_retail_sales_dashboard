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60" r:id="rId5"/>
    <p:sldId id="267" r:id="rId6"/>
    <p:sldId id="261" r:id="rId7"/>
    <p:sldId id="263" r:id="rId8"/>
    <p:sldId id="262" r:id="rId9"/>
    <p:sldId id="264" r:id="rId10"/>
    <p:sldId id="268" r:id="rId11"/>
    <p:sldId id="265" r:id="rId12"/>
    <p:sldId id="266" r:id="rId13"/>
    <p:sldId id="269" r:id="rId14"/>
    <p:sldId id="270" r:id="rId15"/>
    <p:sldId id="271" r:id="rId16"/>
    <p:sldId id="272" r:id="rId17"/>
    <p:sldId id="273" r:id="rId18"/>
    <p:sldId id="259" r:id="rId19"/>
  </p:sldIdLst>
  <p:sldSz cx="12192000" cy="6858000"/>
  <p:notesSz cx="6858000" cy="9144000"/>
  <p:embeddedFontLst>
    <p:embeddedFont>
      <p:font typeface="ADLaM Display" panose="02010000000000000000" pitchFamily="2" charset="0"/>
      <p:regular r:id="rId21"/>
    </p:embeddedFont>
    <p:embeddedFont>
      <p:font typeface="Aptos Black" panose="020B0004020202020204" pitchFamily="34" charset="0"/>
      <p:bold r:id="rId22"/>
    </p:embeddedFont>
    <p:embeddedFont>
      <p:font typeface="Aptos Slab Black" panose="020B0004020202020204" pitchFamily="34" charset="0"/>
      <p:bold r:id="rId23"/>
    </p:embeddedFont>
    <p:embeddedFont>
      <p:font typeface="Baskerville Old Face" panose="02020602080505020303" pitchFamily="18" charset="0"/>
      <p:regular r:id="rId24"/>
    </p:embeddedFont>
    <p:embeddedFont>
      <p:font typeface="Congenial Black" panose="02000503040000020004" pitchFamily="2" charset="0"/>
      <p:bold r:id="rId25"/>
    </p:embeddedFont>
    <p:embeddedFont>
      <p:font typeface="Lato Black" panose="020F0502020204030203" pitchFamily="34" charset="0"/>
      <p:bold r:id="rId26"/>
    </p:embeddedFont>
    <p:embeddedFont>
      <p:font typeface="Libre Baskerville" panose="02000000000000000000" pitchFamily="2" charset="0"/>
      <p:regular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4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17865"/>
    <a:srgbClr val="E52328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64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5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FAB0454-2365-42A1-A666-B29431A2DE6A}" type="doc">
      <dgm:prSet loTypeId="urn:microsoft.com/office/officeart/2018/2/layout/IconCircleList" loCatId="icon" qsTypeId="urn:microsoft.com/office/officeart/2005/8/quickstyle/simple4" qsCatId="simple" csTypeId="urn:microsoft.com/office/officeart/2005/8/colors/accent5_1" csCatId="accent5" phldr="1"/>
      <dgm:spPr/>
      <dgm:t>
        <a:bodyPr/>
        <a:lstStyle/>
        <a:p>
          <a:endParaRPr lang="en-US"/>
        </a:p>
      </dgm:t>
    </dgm:pt>
    <dgm:pt modelId="{33E98278-7FF2-4CB2-A497-93ED3A04FC49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/>
            <a:t>Business Problem &amp; Objective</a:t>
          </a:r>
          <a:endParaRPr lang="en-US" dirty="0"/>
        </a:p>
      </dgm:t>
    </dgm:pt>
    <dgm:pt modelId="{A9CDDBE3-D222-4947-814B-D4BFCF7387BF}" type="parTrans" cxnId="{3EDC5A04-C812-46E2-8A54-CE7A299B0735}">
      <dgm:prSet/>
      <dgm:spPr/>
      <dgm:t>
        <a:bodyPr/>
        <a:lstStyle/>
        <a:p>
          <a:endParaRPr lang="en-US"/>
        </a:p>
      </dgm:t>
    </dgm:pt>
    <dgm:pt modelId="{06FF875C-0BEF-4AE1-8BF4-E4ED6CE8106A}" type="sibTrans" cxnId="{3EDC5A04-C812-46E2-8A54-CE7A299B073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5A674D0-05B6-4FE0-BFC7-3D2063F5DE65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Dataset &amp; Data Preparation</a:t>
          </a:r>
          <a:endParaRPr lang="en-US"/>
        </a:p>
      </dgm:t>
    </dgm:pt>
    <dgm:pt modelId="{F596C5BC-8995-4C69-B366-0537A2B0F98A}" type="parTrans" cxnId="{F2AC87C4-C590-4CF8-93F5-CA0D158A4229}">
      <dgm:prSet/>
      <dgm:spPr/>
      <dgm:t>
        <a:bodyPr/>
        <a:lstStyle/>
        <a:p>
          <a:endParaRPr lang="en-US"/>
        </a:p>
      </dgm:t>
    </dgm:pt>
    <dgm:pt modelId="{C128569E-6E19-4269-8998-8ABFC929B712}" type="sibTrans" cxnId="{F2AC87C4-C590-4CF8-93F5-CA0D158A422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455E247-3D98-423B-85EB-70317F724D3E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Data Cleaning &amp; Transformation</a:t>
          </a:r>
          <a:endParaRPr lang="en-US"/>
        </a:p>
      </dgm:t>
    </dgm:pt>
    <dgm:pt modelId="{D81F0C04-D79A-4AB9-AF5A-C6950047C722}" type="parTrans" cxnId="{17A52D8E-6962-4343-BEB5-CC8720F8C3E2}">
      <dgm:prSet/>
      <dgm:spPr/>
      <dgm:t>
        <a:bodyPr/>
        <a:lstStyle/>
        <a:p>
          <a:endParaRPr lang="en-US"/>
        </a:p>
      </dgm:t>
    </dgm:pt>
    <dgm:pt modelId="{0342C45E-5D62-412D-81C1-AD3617FEA00B}" type="sibTrans" cxnId="{17A52D8E-6962-4343-BEB5-CC8720F8C3E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6D163F2-EEBF-4030-BCAC-1BC2BCC1B447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Data Model &amp; Relationships</a:t>
          </a:r>
          <a:endParaRPr lang="en-US"/>
        </a:p>
      </dgm:t>
    </dgm:pt>
    <dgm:pt modelId="{4B2B8B71-4B20-486C-91DE-F27CDA9E3B93}" type="parTrans" cxnId="{6E730C1E-FCC5-4186-8785-75A8EBD4F652}">
      <dgm:prSet/>
      <dgm:spPr/>
      <dgm:t>
        <a:bodyPr/>
        <a:lstStyle/>
        <a:p>
          <a:endParaRPr lang="en-US"/>
        </a:p>
      </dgm:t>
    </dgm:pt>
    <dgm:pt modelId="{6A816B3A-8FD0-4D75-9B3B-A4BFC23DD80F}" type="sibTrans" cxnId="{6E730C1E-FCC5-4186-8785-75A8EBD4F65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A98914C-C515-4F44-BB1A-2BD0BCAD7368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Dashboard &amp; Analysis</a:t>
          </a:r>
          <a:endParaRPr lang="en-US"/>
        </a:p>
      </dgm:t>
    </dgm:pt>
    <dgm:pt modelId="{965851BB-DD13-4E8A-930F-E267C2E4E976}" type="parTrans" cxnId="{150A9DF2-4A7E-4F83-8ED4-B58CFD863A8A}">
      <dgm:prSet/>
      <dgm:spPr/>
      <dgm:t>
        <a:bodyPr/>
        <a:lstStyle/>
        <a:p>
          <a:endParaRPr lang="en-US"/>
        </a:p>
      </dgm:t>
    </dgm:pt>
    <dgm:pt modelId="{C0C4C538-D932-4959-AD3F-2DD20DAECB07}" type="sibTrans" cxnId="{150A9DF2-4A7E-4F83-8ED4-B58CFD863A8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E2A8DC5-7EE9-4FC4-82B9-CC2698FD99CE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Key Insights</a:t>
          </a:r>
          <a:endParaRPr lang="en-US"/>
        </a:p>
      </dgm:t>
    </dgm:pt>
    <dgm:pt modelId="{5E9949BA-514A-4E74-980A-DB039E9C597A}" type="parTrans" cxnId="{36AC098F-0A81-448F-92E8-8B438927CDE5}">
      <dgm:prSet/>
      <dgm:spPr/>
      <dgm:t>
        <a:bodyPr/>
        <a:lstStyle/>
        <a:p>
          <a:endParaRPr lang="en-US"/>
        </a:p>
      </dgm:t>
    </dgm:pt>
    <dgm:pt modelId="{6700F92E-E2C3-4C74-B6BB-4E6DF2D06098}" type="sibTrans" cxnId="{36AC098F-0A81-448F-92E8-8B438927CDE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4A28D47-6F5D-4F61-BF5C-C14177189058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Business Recommendations</a:t>
          </a:r>
          <a:endParaRPr lang="en-US"/>
        </a:p>
      </dgm:t>
    </dgm:pt>
    <dgm:pt modelId="{3A5BC6FD-A977-4667-807E-64C3D80C80DB}" type="parTrans" cxnId="{94C59CA6-0D66-4F50-B641-657B4282F425}">
      <dgm:prSet/>
      <dgm:spPr/>
      <dgm:t>
        <a:bodyPr/>
        <a:lstStyle/>
        <a:p>
          <a:endParaRPr lang="en-US"/>
        </a:p>
      </dgm:t>
    </dgm:pt>
    <dgm:pt modelId="{A18B24F7-8907-46C5-99FF-DD1C0965154F}" type="sibTrans" cxnId="{94C59CA6-0D66-4F50-B641-657B4282F42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13E7F44-F4D9-4318-B7D7-08D59F637D0C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Conclusion</a:t>
          </a:r>
          <a:endParaRPr lang="en-US"/>
        </a:p>
      </dgm:t>
    </dgm:pt>
    <dgm:pt modelId="{D2EA40B6-2AE4-4ECC-B001-42F1B47C64E4}" type="parTrans" cxnId="{6376406D-65A0-471D-B0E5-367055AD9F2B}">
      <dgm:prSet/>
      <dgm:spPr/>
      <dgm:t>
        <a:bodyPr/>
        <a:lstStyle/>
        <a:p>
          <a:endParaRPr lang="en-US"/>
        </a:p>
      </dgm:t>
    </dgm:pt>
    <dgm:pt modelId="{0F10AA7A-8CC7-4A70-9AE3-6E9D5461B007}" type="sibTrans" cxnId="{6376406D-65A0-471D-B0E5-367055AD9F2B}">
      <dgm:prSet/>
      <dgm:spPr/>
      <dgm:t>
        <a:bodyPr/>
        <a:lstStyle/>
        <a:p>
          <a:endParaRPr lang="en-US"/>
        </a:p>
      </dgm:t>
    </dgm:pt>
    <dgm:pt modelId="{ACED18BA-E085-4DA8-9532-1C226C46A836}" type="pres">
      <dgm:prSet presAssocID="{2FAB0454-2365-42A1-A666-B29431A2DE6A}" presName="root" presStyleCnt="0">
        <dgm:presLayoutVars>
          <dgm:dir/>
          <dgm:resizeHandles val="exact"/>
        </dgm:presLayoutVars>
      </dgm:prSet>
      <dgm:spPr/>
    </dgm:pt>
    <dgm:pt modelId="{8DC4F371-F060-41FD-9F46-92A4CFF6C161}" type="pres">
      <dgm:prSet presAssocID="{2FAB0454-2365-42A1-A666-B29431A2DE6A}" presName="container" presStyleCnt="0">
        <dgm:presLayoutVars>
          <dgm:dir/>
          <dgm:resizeHandles val="exact"/>
        </dgm:presLayoutVars>
      </dgm:prSet>
      <dgm:spPr/>
    </dgm:pt>
    <dgm:pt modelId="{15DDF573-0F80-40AC-ADAE-9BBBDB1D323B}" type="pres">
      <dgm:prSet presAssocID="{33E98278-7FF2-4CB2-A497-93ED3A04FC49}" presName="compNode" presStyleCnt="0"/>
      <dgm:spPr/>
    </dgm:pt>
    <dgm:pt modelId="{D269DEC3-1735-4A0C-91F2-04EA2340883E}" type="pres">
      <dgm:prSet presAssocID="{33E98278-7FF2-4CB2-A497-93ED3A04FC49}" presName="iconBgRect" presStyleLbl="bgShp" presStyleIdx="0" presStyleCnt="8"/>
      <dgm:spPr>
        <a:solidFill>
          <a:schemeClr val="tx1">
            <a:lumMod val="95000"/>
            <a:lumOff val="5000"/>
          </a:schemeClr>
        </a:solidFill>
      </dgm:spPr>
    </dgm:pt>
    <dgm:pt modelId="{CC5975D5-2E53-4045-B20D-E42066F06371}" type="pres">
      <dgm:prSet presAssocID="{33E98278-7FF2-4CB2-A497-93ED3A04FC49}" presName="iconRect" presStyleLbl="node1" presStyleIdx="0" presStyleCnt="8" custLinFactNeighborX="7125" custLinFactNeighborY="1910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FD2DAA86-274D-4455-9568-153E28C175FE}" type="pres">
      <dgm:prSet presAssocID="{33E98278-7FF2-4CB2-A497-93ED3A04FC49}" presName="spaceRect" presStyleCnt="0"/>
      <dgm:spPr/>
    </dgm:pt>
    <dgm:pt modelId="{885A4B87-613D-44B4-9D83-8CB32ED9A0DF}" type="pres">
      <dgm:prSet presAssocID="{33E98278-7FF2-4CB2-A497-93ED3A04FC49}" presName="textRect" presStyleLbl="revTx" presStyleIdx="0" presStyleCnt="8">
        <dgm:presLayoutVars>
          <dgm:chMax val="1"/>
          <dgm:chPref val="1"/>
        </dgm:presLayoutVars>
      </dgm:prSet>
      <dgm:spPr/>
    </dgm:pt>
    <dgm:pt modelId="{12A96677-CC09-491B-9BA5-0DDA7F979D87}" type="pres">
      <dgm:prSet presAssocID="{06FF875C-0BEF-4AE1-8BF4-E4ED6CE8106A}" presName="sibTrans" presStyleLbl="sibTrans2D1" presStyleIdx="0" presStyleCnt="0"/>
      <dgm:spPr/>
    </dgm:pt>
    <dgm:pt modelId="{16C46CA9-E2C4-457D-9DE6-8175EA8C7110}" type="pres">
      <dgm:prSet presAssocID="{95A674D0-05B6-4FE0-BFC7-3D2063F5DE65}" presName="compNode" presStyleCnt="0"/>
      <dgm:spPr/>
    </dgm:pt>
    <dgm:pt modelId="{FE3567FB-2E97-4B28-B728-1FAE887D3B4B}" type="pres">
      <dgm:prSet presAssocID="{95A674D0-05B6-4FE0-BFC7-3D2063F5DE65}" presName="iconBgRect" presStyleLbl="bgShp" presStyleIdx="1" presStyleCnt="8"/>
      <dgm:spPr>
        <a:solidFill>
          <a:schemeClr val="tx1">
            <a:lumMod val="95000"/>
            <a:lumOff val="5000"/>
          </a:schemeClr>
        </a:solidFill>
      </dgm:spPr>
    </dgm:pt>
    <dgm:pt modelId="{0C435C12-B077-4012-8290-CCBC2F7AA332}" type="pres">
      <dgm:prSet presAssocID="{95A674D0-05B6-4FE0-BFC7-3D2063F5DE65}" presName="iconRect" presStyleLbl="node1" presStyleIdx="1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BF77598-39F6-416F-8490-E03A2E0CC123}" type="pres">
      <dgm:prSet presAssocID="{95A674D0-05B6-4FE0-BFC7-3D2063F5DE65}" presName="spaceRect" presStyleCnt="0"/>
      <dgm:spPr/>
    </dgm:pt>
    <dgm:pt modelId="{8CD2D06B-B58D-4675-93D3-2AC8A4838F1E}" type="pres">
      <dgm:prSet presAssocID="{95A674D0-05B6-4FE0-BFC7-3D2063F5DE65}" presName="textRect" presStyleLbl="revTx" presStyleIdx="1" presStyleCnt="8">
        <dgm:presLayoutVars>
          <dgm:chMax val="1"/>
          <dgm:chPref val="1"/>
        </dgm:presLayoutVars>
      </dgm:prSet>
      <dgm:spPr/>
    </dgm:pt>
    <dgm:pt modelId="{54A0D917-B94E-4187-9C13-0DC279FB51D2}" type="pres">
      <dgm:prSet presAssocID="{C128569E-6E19-4269-8998-8ABFC929B712}" presName="sibTrans" presStyleLbl="sibTrans2D1" presStyleIdx="0" presStyleCnt="0"/>
      <dgm:spPr/>
    </dgm:pt>
    <dgm:pt modelId="{EFB46A43-551D-44F8-A503-595235BDE68F}" type="pres">
      <dgm:prSet presAssocID="{B455E247-3D98-423B-85EB-70317F724D3E}" presName="compNode" presStyleCnt="0"/>
      <dgm:spPr/>
    </dgm:pt>
    <dgm:pt modelId="{C7D8FF1C-BF24-4068-95DC-075223C94F6C}" type="pres">
      <dgm:prSet presAssocID="{B455E247-3D98-423B-85EB-70317F724D3E}" presName="iconBgRect" presStyleLbl="bgShp" presStyleIdx="2" presStyleCnt="8"/>
      <dgm:spPr>
        <a:solidFill>
          <a:schemeClr val="tx1">
            <a:lumMod val="95000"/>
            <a:lumOff val="5000"/>
          </a:schemeClr>
        </a:solidFill>
      </dgm:spPr>
    </dgm:pt>
    <dgm:pt modelId="{C80AB88D-02A1-43F8-A1E0-207B2B281EB5}" type="pres">
      <dgm:prSet presAssocID="{B455E247-3D98-423B-85EB-70317F724D3E}" presName="iconRect" presStyleLbl="node1" presStyleIdx="2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p and bucket"/>
        </a:ext>
      </dgm:extLst>
    </dgm:pt>
    <dgm:pt modelId="{C31363BD-9D91-44C6-9932-748B34AF7217}" type="pres">
      <dgm:prSet presAssocID="{B455E247-3D98-423B-85EB-70317F724D3E}" presName="spaceRect" presStyleCnt="0"/>
      <dgm:spPr/>
    </dgm:pt>
    <dgm:pt modelId="{9EEDAA7D-9D15-4F83-9E8F-1D754D54BFC9}" type="pres">
      <dgm:prSet presAssocID="{B455E247-3D98-423B-85EB-70317F724D3E}" presName="textRect" presStyleLbl="revTx" presStyleIdx="2" presStyleCnt="8">
        <dgm:presLayoutVars>
          <dgm:chMax val="1"/>
          <dgm:chPref val="1"/>
        </dgm:presLayoutVars>
      </dgm:prSet>
      <dgm:spPr/>
    </dgm:pt>
    <dgm:pt modelId="{1D49C66C-48A1-4B88-AF3C-9E350E4C2296}" type="pres">
      <dgm:prSet presAssocID="{0342C45E-5D62-412D-81C1-AD3617FEA00B}" presName="sibTrans" presStyleLbl="sibTrans2D1" presStyleIdx="0" presStyleCnt="0"/>
      <dgm:spPr/>
    </dgm:pt>
    <dgm:pt modelId="{D61FC6E9-CB7A-4928-B120-3088AACFEA74}" type="pres">
      <dgm:prSet presAssocID="{D6D163F2-EEBF-4030-BCAC-1BC2BCC1B447}" presName="compNode" presStyleCnt="0"/>
      <dgm:spPr/>
    </dgm:pt>
    <dgm:pt modelId="{4D83E676-BA56-4DC4-8896-7F0D0CF83EA4}" type="pres">
      <dgm:prSet presAssocID="{D6D163F2-EEBF-4030-BCAC-1BC2BCC1B447}" presName="iconBgRect" presStyleLbl="bgShp" presStyleIdx="3" presStyleCnt="8"/>
      <dgm:spPr>
        <a:solidFill>
          <a:schemeClr val="tx1">
            <a:lumMod val="95000"/>
            <a:lumOff val="5000"/>
          </a:schemeClr>
        </a:solidFill>
      </dgm:spPr>
    </dgm:pt>
    <dgm:pt modelId="{3CD5B838-EFF7-4ED9-8548-4588CDAA180D}" type="pres">
      <dgm:prSet presAssocID="{D6D163F2-EEBF-4030-BCAC-1BC2BCC1B447}" presName="iconRect" presStyleLbl="node1" presStyleIdx="3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98B357E8-029D-4B51-BD71-8118682EF18C}" type="pres">
      <dgm:prSet presAssocID="{D6D163F2-EEBF-4030-BCAC-1BC2BCC1B447}" presName="spaceRect" presStyleCnt="0"/>
      <dgm:spPr/>
    </dgm:pt>
    <dgm:pt modelId="{178A493A-2DCB-4027-8206-24E8311C2F03}" type="pres">
      <dgm:prSet presAssocID="{D6D163F2-EEBF-4030-BCAC-1BC2BCC1B447}" presName="textRect" presStyleLbl="revTx" presStyleIdx="3" presStyleCnt="8">
        <dgm:presLayoutVars>
          <dgm:chMax val="1"/>
          <dgm:chPref val="1"/>
        </dgm:presLayoutVars>
      </dgm:prSet>
      <dgm:spPr/>
    </dgm:pt>
    <dgm:pt modelId="{1501FC75-0E9E-40EE-A5ED-D77CB7F4DA79}" type="pres">
      <dgm:prSet presAssocID="{6A816B3A-8FD0-4D75-9B3B-A4BFC23DD80F}" presName="sibTrans" presStyleLbl="sibTrans2D1" presStyleIdx="0" presStyleCnt="0"/>
      <dgm:spPr/>
    </dgm:pt>
    <dgm:pt modelId="{E01DD184-028B-4F6F-B89B-5067C2FA39EC}" type="pres">
      <dgm:prSet presAssocID="{FA98914C-C515-4F44-BB1A-2BD0BCAD7368}" presName="compNode" presStyleCnt="0"/>
      <dgm:spPr/>
    </dgm:pt>
    <dgm:pt modelId="{C4C5DB8B-46A4-4464-9E33-C620702BFF59}" type="pres">
      <dgm:prSet presAssocID="{FA98914C-C515-4F44-BB1A-2BD0BCAD7368}" presName="iconBgRect" presStyleLbl="bgShp" presStyleIdx="4" presStyleCnt="8"/>
      <dgm:spPr>
        <a:solidFill>
          <a:schemeClr val="tx1">
            <a:lumMod val="95000"/>
            <a:lumOff val="5000"/>
          </a:schemeClr>
        </a:solidFill>
      </dgm:spPr>
    </dgm:pt>
    <dgm:pt modelId="{1C756B95-CE4C-4802-8B7F-0FD398D60B53}" type="pres">
      <dgm:prSet presAssocID="{FA98914C-C515-4F44-BB1A-2BD0BCAD7368}" presName="iconRect" presStyleLbl="node1" presStyleIdx="4" presStyleCnt="8" custLinFactNeighborY="-1155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39EBCF81-6A8A-4490-AB45-2EEE644BDAD4}" type="pres">
      <dgm:prSet presAssocID="{FA98914C-C515-4F44-BB1A-2BD0BCAD7368}" presName="spaceRect" presStyleCnt="0"/>
      <dgm:spPr/>
    </dgm:pt>
    <dgm:pt modelId="{00BDC1E2-AB46-4211-84A0-B668E9A8F634}" type="pres">
      <dgm:prSet presAssocID="{FA98914C-C515-4F44-BB1A-2BD0BCAD7368}" presName="textRect" presStyleLbl="revTx" presStyleIdx="4" presStyleCnt="8">
        <dgm:presLayoutVars>
          <dgm:chMax val="1"/>
          <dgm:chPref val="1"/>
        </dgm:presLayoutVars>
      </dgm:prSet>
      <dgm:spPr/>
    </dgm:pt>
    <dgm:pt modelId="{F49FDFEF-B59D-4FCB-BB76-A10CD668BFE5}" type="pres">
      <dgm:prSet presAssocID="{C0C4C538-D932-4959-AD3F-2DD20DAECB07}" presName="sibTrans" presStyleLbl="sibTrans2D1" presStyleIdx="0" presStyleCnt="0"/>
      <dgm:spPr/>
    </dgm:pt>
    <dgm:pt modelId="{ED06DA8D-71B8-4BCF-B4AD-715582FFB82F}" type="pres">
      <dgm:prSet presAssocID="{5E2A8DC5-7EE9-4FC4-82B9-CC2698FD99CE}" presName="compNode" presStyleCnt="0"/>
      <dgm:spPr/>
    </dgm:pt>
    <dgm:pt modelId="{68A51960-E182-4148-B526-9FC2720125FB}" type="pres">
      <dgm:prSet presAssocID="{5E2A8DC5-7EE9-4FC4-82B9-CC2698FD99CE}" presName="iconBgRect" presStyleLbl="bgShp" presStyleIdx="5" presStyleCnt="8"/>
      <dgm:spPr>
        <a:solidFill>
          <a:schemeClr val="tx1">
            <a:lumMod val="95000"/>
            <a:lumOff val="5000"/>
          </a:schemeClr>
        </a:solidFill>
      </dgm:spPr>
    </dgm:pt>
    <dgm:pt modelId="{0B7B13F3-1221-492D-9907-DFAB8545384C}" type="pres">
      <dgm:prSet presAssocID="{5E2A8DC5-7EE9-4FC4-82B9-CC2698FD99CE}" presName="iconRect" presStyleLbl="node1" presStyleIdx="5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E37D7E73-B52F-422A-847D-0E89C9CA943E}" type="pres">
      <dgm:prSet presAssocID="{5E2A8DC5-7EE9-4FC4-82B9-CC2698FD99CE}" presName="spaceRect" presStyleCnt="0"/>
      <dgm:spPr/>
    </dgm:pt>
    <dgm:pt modelId="{AB099668-2489-46F7-B50F-77F353E2A015}" type="pres">
      <dgm:prSet presAssocID="{5E2A8DC5-7EE9-4FC4-82B9-CC2698FD99CE}" presName="textRect" presStyleLbl="revTx" presStyleIdx="5" presStyleCnt="8">
        <dgm:presLayoutVars>
          <dgm:chMax val="1"/>
          <dgm:chPref val="1"/>
        </dgm:presLayoutVars>
      </dgm:prSet>
      <dgm:spPr/>
    </dgm:pt>
    <dgm:pt modelId="{80280821-1AC2-4EEA-AD95-FD128ADC531B}" type="pres">
      <dgm:prSet presAssocID="{6700F92E-E2C3-4C74-B6BB-4E6DF2D06098}" presName="sibTrans" presStyleLbl="sibTrans2D1" presStyleIdx="0" presStyleCnt="0"/>
      <dgm:spPr/>
    </dgm:pt>
    <dgm:pt modelId="{41555677-2937-4DD8-B305-F6CC9A03B28A}" type="pres">
      <dgm:prSet presAssocID="{64A28D47-6F5D-4F61-BF5C-C14177189058}" presName="compNode" presStyleCnt="0"/>
      <dgm:spPr/>
    </dgm:pt>
    <dgm:pt modelId="{39E5F03C-47A5-4353-984B-90E488DC8D30}" type="pres">
      <dgm:prSet presAssocID="{64A28D47-6F5D-4F61-BF5C-C14177189058}" presName="iconBgRect" presStyleLbl="bgShp" presStyleIdx="6" presStyleCnt="8"/>
      <dgm:spPr>
        <a:solidFill>
          <a:schemeClr val="tx1">
            <a:lumMod val="95000"/>
            <a:lumOff val="5000"/>
          </a:schemeClr>
        </a:solidFill>
      </dgm:spPr>
    </dgm:pt>
    <dgm:pt modelId="{92CDD834-C9DF-422A-91BF-FFFAC2654488}" type="pres">
      <dgm:prSet presAssocID="{64A28D47-6F5D-4F61-BF5C-C14177189058}" presName="iconRect" presStyleLbl="node1" presStyleIdx="6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C020B4E8-73C3-4AC9-9576-2563B4FBAE79}" type="pres">
      <dgm:prSet presAssocID="{64A28D47-6F5D-4F61-BF5C-C14177189058}" presName="spaceRect" presStyleCnt="0"/>
      <dgm:spPr/>
    </dgm:pt>
    <dgm:pt modelId="{C4FFE805-10B6-4582-B73A-DF4E8128D5F6}" type="pres">
      <dgm:prSet presAssocID="{64A28D47-6F5D-4F61-BF5C-C14177189058}" presName="textRect" presStyleLbl="revTx" presStyleIdx="6" presStyleCnt="8">
        <dgm:presLayoutVars>
          <dgm:chMax val="1"/>
          <dgm:chPref val="1"/>
        </dgm:presLayoutVars>
      </dgm:prSet>
      <dgm:spPr/>
    </dgm:pt>
    <dgm:pt modelId="{D7ECB5C2-F703-4B2B-A56E-15D7758D88E9}" type="pres">
      <dgm:prSet presAssocID="{A18B24F7-8907-46C5-99FF-DD1C0965154F}" presName="sibTrans" presStyleLbl="sibTrans2D1" presStyleIdx="0" presStyleCnt="0"/>
      <dgm:spPr/>
    </dgm:pt>
    <dgm:pt modelId="{A2BE8515-779B-4382-8081-05983D59B7AD}" type="pres">
      <dgm:prSet presAssocID="{D13E7F44-F4D9-4318-B7D7-08D59F637D0C}" presName="compNode" presStyleCnt="0"/>
      <dgm:spPr/>
    </dgm:pt>
    <dgm:pt modelId="{AFA384A4-AF0A-462F-A49B-9BEFDD746971}" type="pres">
      <dgm:prSet presAssocID="{D13E7F44-F4D9-4318-B7D7-08D59F637D0C}" presName="iconBgRect" presStyleLbl="bgShp" presStyleIdx="7" presStyleCnt="8"/>
      <dgm:spPr>
        <a:solidFill>
          <a:schemeClr val="tx1">
            <a:lumMod val="95000"/>
            <a:lumOff val="5000"/>
          </a:schemeClr>
        </a:solidFill>
      </dgm:spPr>
    </dgm:pt>
    <dgm:pt modelId="{83912865-FB9F-41D5-A9AB-B111996D42C4}" type="pres">
      <dgm:prSet presAssocID="{D13E7F44-F4D9-4318-B7D7-08D59F637D0C}" presName="iconRect" presStyleLbl="node1" presStyleIdx="7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D124798B-1C11-4213-99D5-543478CEA4C5}" type="pres">
      <dgm:prSet presAssocID="{D13E7F44-F4D9-4318-B7D7-08D59F637D0C}" presName="spaceRect" presStyleCnt="0"/>
      <dgm:spPr/>
    </dgm:pt>
    <dgm:pt modelId="{4C46E0F2-7C48-4258-B98E-9A20E1E41C87}" type="pres">
      <dgm:prSet presAssocID="{D13E7F44-F4D9-4318-B7D7-08D59F637D0C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3EDC5A04-C812-46E2-8A54-CE7A299B0735}" srcId="{2FAB0454-2365-42A1-A666-B29431A2DE6A}" destId="{33E98278-7FF2-4CB2-A497-93ED3A04FC49}" srcOrd="0" destOrd="0" parTransId="{A9CDDBE3-D222-4947-814B-D4BFCF7387BF}" sibTransId="{06FF875C-0BEF-4AE1-8BF4-E4ED6CE8106A}"/>
    <dgm:cxn modelId="{8A54C014-A3BC-49FD-8A14-6F6D13BC235A}" type="presOf" srcId="{D6D163F2-EEBF-4030-BCAC-1BC2BCC1B447}" destId="{178A493A-2DCB-4027-8206-24E8311C2F03}" srcOrd="0" destOrd="0" presId="urn:microsoft.com/office/officeart/2018/2/layout/IconCircleList"/>
    <dgm:cxn modelId="{77FAC218-D553-4FDC-A225-EB22D7868328}" type="presOf" srcId="{95A674D0-05B6-4FE0-BFC7-3D2063F5DE65}" destId="{8CD2D06B-B58D-4675-93D3-2AC8A4838F1E}" srcOrd="0" destOrd="0" presId="urn:microsoft.com/office/officeart/2018/2/layout/IconCircleList"/>
    <dgm:cxn modelId="{6E730C1E-FCC5-4186-8785-75A8EBD4F652}" srcId="{2FAB0454-2365-42A1-A666-B29431A2DE6A}" destId="{D6D163F2-EEBF-4030-BCAC-1BC2BCC1B447}" srcOrd="3" destOrd="0" parTransId="{4B2B8B71-4B20-486C-91DE-F27CDA9E3B93}" sibTransId="{6A816B3A-8FD0-4D75-9B3B-A4BFC23DD80F}"/>
    <dgm:cxn modelId="{5D4E8921-0D43-4804-8FE7-FBE7DC684E54}" type="presOf" srcId="{0342C45E-5D62-412D-81C1-AD3617FEA00B}" destId="{1D49C66C-48A1-4B88-AF3C-9E350E4C2296}" srcOrd="0" destOrd="0" presId="urn:microsoft.com/office/officeart/2018/2/layout/IconCircleList"/>
    <dgm:cxn modelId="{ACEB8722-CEEE-4630-921B-FF88E4BF7D37}" type="presOf" srcId="{FA98914C-C515-4F44-BB1A-2BD0BCAD7368}" destId="{00BDC1E2-AB46-4211-84A0-B668E9A8F634}" srcOrd="0" destOrd="0" presId="urn:microsoft.com/office/officeart/2018/2/layout/IconCircleList"/>
    <dgm:cxn modelId="{30AC882F-FF3C-4F6C-B5E0-C8EE91E6728E}" type="presOf" srcId="{5E2A8DC5-7EE9-4FC4-82B9-CC2698FD99CE}" destId="{AB099668-2489-46F7-B50F-77F353E2A015}" srcOrd="0" destOrd="0" presId="urn:microsoft.com/office/officeart/2018/2/layout/IconCircleList"/>
    <dgm:cxn modelId="{BB21E93C-7E69-416D-8D20-E7FCFF2090BB}" type="presOf" srcId="{33E98278-7FF2-4CB2-A497-93ED3A04FC49}" destId="{885A4B87-613D-44B4-9D83-8CB32ED9A0DF}" srcOrd="0" destOrd="0" presId="urn:microsoft.com/office/officeart/2018/2/layout/IconCircleList"/>
    <dgm:cxn modelId="{6376406D-65A0-471D-B0E5-367055AD9F2B}" srcId="{2FAB0454-2365-42A1-A666-B29431A2DE6A}" destId="{D13E7F44-F4D9-4318-B7D7-08D59F637D0C}" srcOrd="7" destOrd="0" parTransId="{D2EA40B6-2AE4-4ECC-B001-42F1B47C64E4}" sibTransId="{0F10AA7A-8CC7-4A70-9AE3-6E9D5461B007}"/>
    <dgm:cxn modelId="{68B48754-EA88-4DD8-B31B-99D1D86DAAA5}" type="presOf" srcId="{06FF875C-0BEF-4AE1-8BF4-E4ED6CE8106A}" destId="{12A96677-CC09-491B-9BA5-0DDA7F979D87}" srcOrd="0" destOrd="0" presId="urn:microsoft.com/office/officeart/2018/2/layout/IconCircleList"/>
    <dgm:cxn modelId="{4B2DEA81-7050-4450-95B5-C0DC4EBD8A0C}" type="presOf" srcId="{2FAB0454-2365-42A1-A666-B29431A2DE6A}" destId="{ACED18BA-E085-4DA8-9532-1C226C46A836}" srcOrd="0" destOrd="0" presId="urn:microsoft.com/office/officeart/2018/2/layout/IconCircleList"/>
    <dgm:cxn modelId="{17A52D8E-6962-4343-BEB5-CC8720F8C3E2}" srcId="{2FAB0454-2365-42A1-A666-B29431A2DE6A}" destId="{B455E247-3D98-423B-85EB-70317F724D3E}" srcOrd="2" destOrd="0" parTransId="{D81F0C04-D79A-4AB9-AF5A-C6950047C722}" sibTransId="{0342C45E-5D62-412D-81C1-AD3617FEA00B}"/>
    <dgm:cxn modelId="{36AC098F-0A81-448F-92E8-8B438927CDE5}" srcId="{2FAB0454-2365-42A1-A666-B29431A2DE6A}" destId="{5E2A8DC5-7EE9-4FC4-82B9-CC2698FD99CE}" srcOrd="5" destOrd="0" parTransId="{5E9949BA-514A-4E74-980A-DB039E9C597A}" sibTransId="{6700F92E-E2C3-4C74-B6BB-4E6DF2D06098}"/>
    <dgm:cxn modelId="{2C3DAA93-98A0-402A-B164-D6E014CE8C75}" type="presOf" srcId="{C128569E-6E19-4269-8998-8ABFC929B712}" destId="{54A0D917-B94E-4187-9C13-0DC279FB51D2}" srcOrd="0" destOrd="0" presId="urn:microsoft.com/office/officeart/2018/2/layout/IconCircleList"/>
    <dgm:cxn modelId="{94C59CA6-0D66-4F50-B641-657B4282F425}" srcId="{2FAB0454-2365-42A1-A666-B29431A2DE6A}" destId="{64A28D47-6F5D-4F61-BF5C-C14177189058}" srcOrd="6" destOrd="0" parTransId="{3A5BC6FD-A977-4667-807E-64C3D80C80DB}" sibTransId="{A18B24F7-8907-46C5-99FF-DD1C0965154F}"/>
    <dgm:cxn modelId="{3F831BAA-660C-458A-988C-831B9AB97ADE}" type="presOf" srcId="{B455E247-3D98-423B-85EB-70317F724D3E}" destId="{9EEDAA7D-9D15-4F83-9E8F-1D754D54BFC9}" srcOrd="0" destOrd="0" presId="urn:microsoft.com/office/officeart/2018/2/layout/IconCircleList"/>
    <dgm:cxn modelId="{14FF3DB2-55C8-4ACB-8C8B-718E939ADEC7}" type="presOf" srcId="{6700F92E-E2C3-4C74-B6BB-4E6DF2D06098}" destId="{80280821-1AC2-4EEA-AD95-FD128ADC531B}" srcOrd="0" destOrd="0" presId="urn:microsoft.com/office/officeart/2018/2/layout/IconCircleList"/>
    <dgm:cxn modelId="{84D341B6-3009-4267-8F70-6B68263CE220}" type="presOf" srcId="{C0C4C538-D932-4959-AD3F-2DD20DAECB07}" destId="{F49FDFEF-B59D-4FCB-BB76-A10CD668BFE5}" srcOrd="0" destOrd="0" presId="urn:microsoft.com/office/officeart/2018/2/layout/IconCircleList"/>
    <dgm:cxn modelId="{EC06C7B8-0CA6-488A-A2F3-B614BB7F8E3B}" type="presOf" srcId="{A18B24F7-8907-46C5-99FF-DD1C0965154F}" destId="{D7ECB5C2-F703-4B2B-A56E-15D7758D88E9}" srcOrd="0" destOrd="0" presId="urn:microsoft.com/office/officeart/2018/2/layout/IconCircleList"/>
    <dgm:cxn modelId="{F2AC87C4-C590-4CF8-93F5-CA0D158A4229}" srcId="{2FAB0454-2365-42A1-A666-B29431A2DE6A}" destId="{95A674D0-05B6-4FE0-BFC7-3D2063F5DE65}" srcOrd="1" destOrd="0" parTransId="{F596C5BC-8995-4C69-B366-0537A2B0F98A}" sibTransId="{C128569E-6E19-4269-8998-8ABFC929B712}"/>
    <dgm:cxn modelId="{050B76C6-61EB-410F-8523-C51922901F91}" type="presOf" srcId="{D13E7F44-F4D9-4318-B7D7-08D59F637D0C}" destId="{4C46E0F2-7C48-4258-B98E-9A20E1E41C87}" srcOrd="0" destOrd="0" presId="urn:microsoft.com/office/officeart/2018/2/layout/IconCircleList"/>
    <dgm:cxn modelId="{2C8AD8EE-81A9-47E2-8239-A577BCBE9DEB}" type="presOf" srcId="{64A28D47-6F5D-4F61-BF5C-C14177189058}" destId="{C4FFE805-10B6-4582-B73A-DF4E8128D5F6}" srcOrd="0" destOrd="0" presId="urn:microsoft.com/office/officeart/2018/2/layout/IconCircleList"/>
    <dgm:cxn modelId="{69FB68F0-6592-482A-87D6-B660B3FEFF03}" type="presOf" srcId="{6A816B3A-8FD0-4D75-9B3B-A4BFC23DD80F}" destId="{1501FC75-0E9E-40EE-A5ED-D77CB7F4DA79}" srcOrd="0" destOrd="0" presId="urn:microsoft.com/office/officeart/2018/2/layout/IconCircleList"/>
    <dgm:cxn modelId="{150A9DF2-4A7E-4F83-8ED4-B58CFD863A8A}" srcId="{2FAB0454-2365-42A1-A666-B29431A2DE6A}" destId="{FA98914C-C515-4F44-BB1A-2BD0BCAD7368}" srcOrd="4" destOrd="0" parTransId="{965851BB-DD13-4E8A-930F-E267C2E4E976}" sibTransId="{C0C4C538-D932-4959-AD3F-2DD20DAECB07}"/>
    <dgm:cxn modelId="{4694DF17-1715-4D94-A9AA-3F638BDF5D02}" type="presParOf" srcId="{ACED18BA-E085-4DA8-9532-1C226C46A836}" destId="{8DC4F371-F060-41FD-9F46-92A4CFF6C161}" srcOrd="0" destOrd="0" presId="urn:microsoft.com/office/officeart/2018/2/layout/IconCircleList"/>
    <dgm:cxn modelId="{A691928E-E747-48ED-8884-E7DE542EDC56}" type="presParOf" srcId="{8DC4F371-F060-41FD-9F46-92A4CFF6C161}" destId="{15DDF573-0F80-40AC-ADAE-9BBBDB1D323B}" srcOrd="0" destOrd="0" presId="urn:microsoft.com/office/officeart/2018/2/layout/IconCircleList"/>
    <dgm:cxn modelId="{68BA10EE-5C3C-48E5-AD95-44A87E64C4C0}" type="presParOf" srcId="{15DDF573-0F80-40AC-ADAE-9BBBDB1D323B}" destId="{D269DEC3-1735-4A0C-91F2-04EA2340883E}" srcOrd="0" destOrd="0" presId="urn:microsoft.com/office/officeart/2018/2/layout/IconCircleList"/>
    <dgm:cxn modelId="{ACAC1F4A-BDE4-4787-BB2F-A6E9FE57DE1B}" type="presParOf" srcId="{15DDF573-0F80-40AC-ADAE-9BBBDB1D323B}" destId="{CC5975D5-2E53-4045-B20D-E42066F06371}" srcOrd="1" destOrd="0" presId="urn:microsoft.com/office/officeart/2018/2/layout/IconCircleList"/>
    <dgm:cxn modelId="{3B40B908-0AD6-44A0-9BA3-1531C2A8D8AD}" type="presParOf" srcId="{15DDF573-0F80-40AC-ADAE-9BBBDB1D323B}" destId="{FD2DAA86-274D-4455-9568-153E28C175FE}" srcOrd="2" destOrd="0" presId="urn:microsoft.com/office/officeart/2018/2/layout/IconCircleList"/>
    <dgm:cxn modelId="{FCC542D0-D98A-42DD-823A-450CEEC034A7}" type="presParOf" srcId="{15DDF573-0F80-40AC-ADAE-9BBBDB1D323B}" destId="{885A4B87-613D-44B4-9D83-8CB32ED9A0DF}" srcOrd="3" destOrd="0" presId="urn:microsoft.com/office/officeart/2018/2/layout/IconCircleList"/>
    <dgm:cxn modelId="{D60A9688-CD55-4DDD-BA3D-FEF7F1C3D77B}" type="presParOf" srcId="{8DC4F371-F060-41FD-9F46-92A4CFF6C161}" destId="{12A96677-CC09-491B-9BA5-0DDA7F979D87}" srcOrd="1" destOrd="0" presId="urn:microsoft.com/office/officeart/2018/2/layout/IconCircleList"/>
    <dgm:cxn modelId="{D01E9845-32AF-4BDE-A706-BB9C7D4F019C}" type="presParOf" srcId="{8DC4F371-F060-41FD-9F46-92A4CFF6C161}" destId="{16C46CA9-E2C4-457D-9DE6-8175EA8C7110}" srcOrd="2" destOrd="0" presId="urn:microsoft.com/office/officeart/2018/2/layout/IconCircleList"/>
    <dgm:cxn modelId="{4C1F6DD2-C3AB-443B-940C-FF0EC32CDD93}" type="presParOf" srcId="{16C46CA9-E2C4-457D-9DE6-8175EA8C7110}" destId="{FE3567FB-2E97-4B28-B728-1FAE887D3B4B}" srcOrd="0" destOrd="0" presId="urn:microsoft.com/office/officeart/2018/2/layout/IconCircleList"/>
    <dgm:cxn modelId="{D3F135C9-307A-4B21-9E1D-7FB0D2D6A0CE}" type="presParOf" srcId="{16C46CA9-E2C4-457D-9DE6-8175EA8C7110}" destId="{0C435C12-B077-4012-8290-CCBC2F7AA332}" srcOrd="1" destOrd="0" presId="urn:microsoft.com/office/officeart/2018/2/layout/IconCircleList"/>
    <dgm:cxn modelId="{7564605D-EFAE-4C7E-8A0F-928867609DD7}" type="presParOf" srcId="{16C46CA9-E2C4-457D-9DE6-8175EA8C7110}" destId="{7BF77598-39F6-416F-8490-E03A2E0CC123}" srcOrd="2" destOrd="0" presId="urn:microsoft.com/office/officeart/2018/2/layout/IconCircleList"/>
    <dgm:cxn modelId="{7B6383A8-B081-4E36-92D7-D54CA8DDD2E6}" type="presParOf" srcId="{16C46CA9-E2C4-457D-9DE6-8175EA8C7110}" destId="{8CD2D06B-B58D-4675-93D3-2AC8A4838F1E}" srcOrd="3" destOrd="0" presId="urn:microsoft.com/office/officeart/2018/2/layout/IconCircleList"/>
    <dgm:cxn modelId="{28275750-0809-46E5-A8F5-7093E0731801}" type="presParOf" srcId="{8DC4F371-F060-41FD-9F46-92A4CFF6C161}" destId="{54A0D917-B94E-4187-9C13-0DC279FB51D2}" srcOrd="3" destOrd="0" presId="urn:microsoft.com/office/officeart/2018/2/layout/IconCircleList"/>
    <dgm:cxn modelId="{098E04AD-4E18-4E39-8A5D-22E5B9D94815}" type="presParOf" srcId="{8DC4F371-F060-41FD-9F46-92A4CFF6C161}" destId="{EFB46A43-551D-44F8-A503-595235BDE68F}" srcOrd="4" destOrd="0" presId="urn:microsoft.com/office/officeart/2018/2/layout/IconCircleList"/>
    <dgm:cxn modelId="{B03B0E57-38CC-4CBE-B4EF-AC8C55DBE335}" type="presParOf" srcId="{EFB46A43-551D-44F8-A503-595235BDE68F}" destId="{C7D8FF1C-BF24-4068-95DC-075223C94F6C}" srcOrd="0" destOrd="0" presId="urn:microsoft.com/office/officeart/2018/2/layout/IconCircleList"/>
    <dgm:cxn modelId="{E9822917-F501-4253-8971-472577EF0413}" type="presParOf" srcId="{EFB46A43-551D-44F8-A503-595235BDE68F}" destId="{C80AB88D-02A1-43F8-A1E0-207B2B281EB5}" srcOrd="1" destOrd="0" presId="urn:microsoft.com/office/officeart/2018/2/layout/IconCircleList"/>
    <dgm:cxn modelId="{7D2C9987-30D1-4C1F-98BB-6B878EF97B1B}" type="presParOf" srcId="{EFB46A43-551D-44F8-A503-595235BDE68F}" destId="{C31363BD-9D91-44C6-9932-748B34AF7217}" srcOrd="2" destOrd="0" presId="urn:microsoft.com/office/officeart/2018/2/layout/IconCircleList"/>
    <dgm:cxn modelId="{963343A7-ED3D-4021-AD76-4D81058EDE56}" type="presParOf" srcId="{EFB46A43-551D-44F8-A503-595235BDE68F}" destId="{9EEDAA7D-9D15-4F83-9E8F-1D754D54BFC9}" srcOrd="3" destOrd="0" presId="urn:microsoft.com/office/officeart/2018/2/layout/IconCircleList"/>
    <dgm:cxn modelId="{A0621D0E-3E9D-4468-AFCC-46C255769F79}" type="presParOf" srcId="{8DC4F371-F060-41FD-9F46-92A4CFF6C161}" destId="{1D49C66C-48A1-4B88-AF3C-9E350E4C2296}" srcOrd="5" destOrd="0" presId="urn:microsoft.com/office/officeart/2018/2/layout/IconCircleList"/>
    <dgm:cxn modelId="{73590D56-3AE8-4838-83A6-88F6E39CB054}" type="presParOf" srcId="{8DC4F371-F060-41FD-9F46-92A4CFF6C161}" destId="{D61FC6E9-CB7A-4928-B120-3088AACFEA74}" srcOrd="6" destOrd="0" presId="urn:microsoft.com/office/officeart/2018/2/layout/IconCircleList"/>
    <dgm:cxn modelId="{EE5D8428-773F-4FF6-895A-53C0A8A1BB34}" type="presParOf" srcId="{D61FC6E9-CB7A-4928-B120-3088AACFEA74}" destId="{4D83E676-BA56-4DC4-8896-7F0D0CF83EA4}" srcOrd="0" destOrd="0" presId="urn:microsoft.com/office/officeart/2018/2/layout/IconCircleList"/>
    <dgm:cxn modelId="{7DBC0013-9037-4860-B9D3-3FCD78C2C7C2}" type="presParOf" srcId="{D61FC6E9-CB7A-4928-B120-3088AACFEA74}" destId="{3CD5B838-EFF7-4ED9-8548-4588CDAA180D}" srcOrd="1" destOrd="0" presId="urn:microsoft.com/office/officeart/2018/2/layout/IconCircleList"/>
    <dgm:cxn modelId="{F6E0162D-8F4B-449B-8DAE-2427984291A0}" type="presParOf" srcId="{D61FC6E9-CB7A-4928-B120-3088AACFEA74}" destId="{98B357E8-029D-4B51-BD71-8118682EF18C}" srcOrd="2" destOrd="0" presId="urn:microsoft.com/office/officeart/2018/2/layout/IconCircleList"/>
    <dgm:cxn modelId="{4C96FBD7-D741-41E4-A2C4-AFABD8DEB78E}" type="presParOf" srcId="{D61FC6E9-CB7A-4928-B120-3088AACFEA74}" destId="{178A493A-2DCB-4027-8206-24E8311C2F03}" srcOrd="3" destOrd="0" presId="urn:microsoft.com/office/officeart/2018/2/layout/IconCircleList"/>
    <dgm:cxn modelId="{2FBFDEDD-CE63-4445-AAF9-23AD2F65E266}" type="presParOf" srcId="{8DC4F371-F060-41FD-9F46-92A4CFF6C161}" destId="{1501FC75-0E9E-40EE-A5ED-D77CB7F4DA79}" srcOrd="7" destOrd="0" presId="urn:microsoft.com/office/officeart/2018/2/layout/IconCircleList"/>
    <dgm:cxn modelId="{CAC09F44-4D12-4B39-BD21-2CF08BF9AAE0}" type="presParOf" srcId="{8DC4F371-F060-41FD-9F46-92A4CFF6C161}" destId="{E01DD184-028B-4F6F-B89B-5067C2FA39EC}" srcOrd="8" destOrd="0" presId="urn:microsoft.com/office/officeart/2018/2/layout/IconCircleList"/>
    <dgm:cxn modelId="{6AA5853A-3451-4E59-8630-DB1B2757B2A2}" type="presParOf" srcId="{E01DD184-028B-4F6F-B89B-5067C2FA39EC}" destId="{C4C5DB8B-46A4-4464-9E33-C620702BFF59}" srcOrd="0" destOrd="0" presId="urn:microsoft.com/office/officeart/2018/2/layout/IconCircleList"/>
    <dgm:cxn modelId="{85E7E1F0-880C-4C66-8C6F-83E0D43AA9E8}" type="presParOf" srcId="{E01DD184-028B-4F6F-B89B-5067C2FA39EC}" destId="{1C756B95-CE4C-4802-8B7F-0FD398D60B53}" srcOrd="1" destOrd="0" presId="urn:microsoft.com/office/officeart/2018/2/layout/IconCircleList"/>
    <dgm:cxn modelId="{3AB2C781-2FEF-41B9-A3CB-8706688E6872}" type="presParOf" srcId="{E01DD184-028B-4F6F-B89B-5067C2FA39EC}" destId="{39EBCF81-6A8A-4490-AB45-2EEE644BDAD4}" srcOrd="2" destOrd="0" presId="urn:microsoft.com/office/officeart/2018/2/layout/IconCircleList"/>
    <dgm:cxn modelId="{6AB35297-C988-4DAE-A5FD-1C992C63F34E}" type="presParOf" srcId="{E01DD184-028B-4F6F-B89B-5067C2FA39EC}" destId="{00BDC1E2-AB46-4211-84A0-B668E9A8F634}" srcOrd="3" destOrd="0" presId="urn:microsoft.com/office/officeart/2018/2/layout/IconCircleList"/>
    <dgm:cxn modelId="{995C3638-3FC1-45B6-A426-860DDB8AC349}" type="presParOf" srcId="{8DC4F371-F060-41FD-9F46-92A4CFF6C161}" destId="{F49FDFEF-B59D-4FCB-BB76-A10CD668BFE5}" srcOrd="9" destOrd="0" presId="urn:microsoft.com/office/officeart/2018/2/layout/IconCircleList"/>
    <dgm:cxn modelId="{0DCEDC8A-26DB-4B04-870C-AFBFCA0B82F8}" type="presParOf" srcId="{8DC4F371-F060-41FD-9F46-92A4CFF6C161}" destId="{ED06DA8D-71B8-4BCF-B4AD-715582FFB82F}" srcOrd="10" destOrd="0" presId="urn:microsoft.com/office/officeart/2018/2/layout/IconCircleList"/>
    <dgm:cxn modelId="{EA83F02C-6E91-4953-A622-102BD231ED2D}" type="presParOf" srcId="{ED06DA8D-71B8-4BCF-B4AD-715582FFB82F}" destId="{68A51960-E182-4148-B526-9FC2720125FB}" srcOrd="0" destOrd="0" presId="urn:microsoft.com/office/officeart/2018/2/layout/IconCircleList"/>
    <dgm:cxn modelId="{8E517A3E-D77E-4A44-A7CC-AB304BF084F3}" type="presParOf" srcId="{ED06DA8D-71B8-4BCF-B4AD-715582FFB82F}" destId="{0B7B13F3-1221-492D-9907-DFAB8545384C}" srcOrd="1" destOrd="0" presId="urn:microsoft.com/office/officeart/2018/2/layout/IconCircleList"/>
    <dgm:cxn modelId="{9BA0DEBA-4160-4A80-BADF-AA4E40741EBA}" type="presParOf" srcId="{ED06DA8D-71B8-4BCF-B4AD-715582FFB82F}" destId="{E37D7E73-B52F-422A-847D-0E89C9CA943E}" srcOrd="2" destOrd="0" presId="urn:microsoft.com/office/officeart/2018/2/layout/IconCircleList"/>
    <dgm:cxn modelId="{7340F783-C6F9-4D1A-9730-E78E6D9E0444}" type="presParOf" srcId="{ED06DA8D-71B8-4BCF-B4AD-715582FFB82F}" destId="{AB099668-2489-46F7-B50F-77F353E2A015}" srcOrd="3" destOrd="0" presId="urn:microsoft.com/office/officeart/2018/2/layout/IconCircleList"/>
    <dgm:cxn modelId="{5DE85CAE-81D9-4BAE-A22E-E9A009DEB626}" type="presParOf" srcId="{8DC4F371-F060-41FD-9F46-92A4CFF6C161}" destId="{80280821-1AC2-4EEA-AD95-FD128ADC531B}" srcOrd="11" destOrd="0" presId="urn:microsoft.com/office/officeart/2018/2/layout/IconCircleList"/>
    <dgm:cxn modelId="{9CC0BA66-8665-4E4B-9A0F-586073BD3943}" type="presParOf" srcId="{8DC4F371-F060-41FD-9F46-92A4CFF6C161}" destId="{41555677-2937-4DD8-B305-F6CC9A03B28A}" srcOrd="12" destOrd="0" presId="urn:microsoft.com/office/officeart/2018/2/layout/IconCircleList"/>
    <dgm:cxn modelId="{855A39F6-9B9E-44FF-A922-EA1D0F32EDEB}" type="presParOf" srcId="{41555677-2937-4DD8-B305-F6CC9A03B28A}" destId="{39E5F03C-47A5-4353-984B-90E488DC8D30}" srcOrd="0" destOrd="0" presId="urn:microsoft.com/office/officeart/2018/2/layout/IconCircleList"/>
    <dgm:cxn modelId="{BD3A5878-35B1-4BDA-BFCF-042DBC47A08B}" type="presParOf" srcId="{41555677-2937-4DD8-B305-F6CC9A03B28A}" destId="{92CDD834-C9DF-422A-91BF-FFFAC2654488}" srcOrd="1" destOrd="0" presId="urn:microsoft.com/office/officeart/2018/2/layout/IconCircleList"/>
    <dgm:cxn modelId="{F721166D-DC67-4ED9-88C7-F5EADB0EC6AC}" type="presParOf" srcId="{41555677-2937-4DD8-B305-F6CC9A03B28A}" destId="{C020B4E8-73C3-4AC9-9576-2563B4FBAE79}" srcOrd="2" destOrd="0" presId="urn:microsoft.com/office/officeart/2018/2/layout/IconCircleList"/>
    <dgm:cxn modelId="{3521CD92-0CB5-425E-B102-70A2EA2D331E}" type="presParOf" srcId="{41555677-2937-4DD8-B305-F6CC9A03B28A}" destId="{C4FFE805-10B6-4582-B73A-DF4E8128D5F6}" srcOrd="3" destOrd="0" presId="urn:microsoft.com/office/officeart/2018/2/layout/IconCircleList"/>
    <dgm:cxn modelId="{48D37A45-5B3A-4992-A930-5CAB2FD941D2}" type="presParOf" srcId="{8DC4F371-F060-41FD-9F46-92A4CFF6C161}" destId="{D7ECB5C2-F703-4B2B-A56E-15D7758D88E9}" srcOrd="13" destOrd="0" presId="urn:microsoft.com/office/officeart/2018/2/layout/IconCircleList"/>
    <dgm:cxn modelId="{A6F7492F-22B1-48BD-97C7-FEE15E7B564C}" type="presParOf" srcId="{8DC4F371-F060-41FD-9F46-92A4CFF6C161}" destId="{A2BE8515-779B-4382-8081-05983D59B7AD}" srcOrd="14" destOrd="0" presId="urn:microsoft.com/office/officeart/2018/2/layout/IconCircleList"/>
    <dgm:cxn modelId="{2DFF3986-0EC7-4136-8DFB-321E60DF31CC}" type="presParOf" srcId="{A2BE8515-779B-4382-8081-05983D59B7AD}" destId="{AFA384A4-AF0A-462F-A49B-9BEFDD746971}" srcOrd="0" destOrd="0" presId="urn:microsoft.com/office/officeart/2018/2/layout/IconCircleList"/>
    <dgm:cxn modelId="{05443B0E-980B-4EE6-85F0-DECA57640473}" type="presParOf" srcId="{A2BE8515-779B-4382-8081-05983D59B7AD}" destId="{83912865-FB9F-41D5-A9AB-B111996D42C4}" srcOrd="1" destOrd="0" presId="urn:microsoft.com/office/officeart/2018/2/layout/IconCircleList"/>
    <dgm:cxn modelId="{35E63B5E-2B29-4400-BE6D-31967A298335}" type="presParOf" srcId="{A2BE8515-779B-4382-8081-05983D59B7AD}" destId="{D124798B-1C11-4213-99D5-543478CEA4C5}" srcOrd="2" destOrd="0" presId="urn:microsoft.com/office/officeart/2018/2/layout/IconCircleList"/>
    <dgm:cxn modelId="{9AD3337B-BA0F-489E-B668-09BD84E788E5}" type="presParOf" srcId="{A2BE8515-779B-4382-8081-05983D59B7AD}" destId="{4C46E0F2-7C48-4258-B98E-9A20E1E41C8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69DEC3-1735-4A0C-91F2-04EA2340883E}">
      <dsp:nvSpPr>
        <dsp:cNvPr id="0" name=""/>
        <dsp:cNvSpPr/>
      </dsp:nvSpPr>
      <dsp:spPr>
        <a:xfrm>
          <a:off x="82613" y="90470"/>
          <a:ext cx="897246" cy="897246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C5975D5-2E53-4045-B20D-E42066F06371}">
      <dsp:nvSpPr>
        <dsp:cNvPr id="0" name=""/>
        <dsp:cNvSpPr/>
      </dsp:nvSpPr>
      <dsp:spPr>
        <a:xfrm>
          <a:off x="308113" y="288831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85A4B87-613D-44B4-9D83-8CB32ED9A0DF}">
      <dsp:nvSpPr>
        <dsp:cNvPr id="0" name=""/>
        <dsp:cNvSpPr/>
      </dsp:nvSpPr>
      <dsp:spPr>
        <a:xfrm>
          <a:off x="1172126" y="90470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Business Problem &amp; Objective</a:t>
          </a:r>
          <a:endParaRPr lang="en-US" sz="1900" kern="1200" dirty="0"/>
        </a:p>
      </dsp:txBody>
      <dsp:txXfrm>
        <a:off x="1172126" y="90470"/>
        <a:ext cx="2114937" cy="897246"/>
      </dsp:txXfrm>
    </dsp:sp>
    <dsp:sp modelId="{FE3567FB-2E97-4B28-B728-1FAE887D3B4B}">
      <dsp:nvSpPr>
        <dsp:cNvPr id="0" name=""/>
        <dsp:cNvSpPr/>
      </dsp:nvSpPr>
      <dsp:spPr>
        <a:xfrm>
          <a:off x="3655575" y="90470"/>
          <a:ext cx="897246" cy="897246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C435C12-B077-4012-8290-CCBC2F7AA332}">
      <dsp:nvSpPr>
        <dsp:cNvPr id="0" name=""/>
        <dsp:cNvSpPr/>
      </dsp:nvSpPr>
      <dsp:spPr>
        <a:xfrm>
          <a:off x="3843996" y="278892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CD2D06B-B58D-4675-93D3-2AC8A4838F1E}">
      <dsp:nvSpPr>
        <dsp:cNvPr id="0" name=""/>
        <dsp:cNvSpPr/>
      </dsp:nvSpPr>
      <dsp:spPr>
        <a:xfrm>
          <a:off x="4745088" y="90470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Dataset &amp; Data Preparation</a:t>
          </a:r>
          <a:endParaRPr lang="en-US" sz="1900" kern="1200"/>
        </a:p>
      </dsp:txBody>
      <dsp:txXfrm>
        <a:off x="4745088" y="90470"/>
        <a:ext cx="2114937" cy="897246"/>
      </dsp:txXfrm>
    </dsp:sp>
    <dsp:sp modelId="{C7D8FF1C-BF24-4068-95DC-075223C94F6C}">
      <dsp:nvSpPr>
        <dsp:cNvPr id="0" name=""/>
        <dsp:cNvSpPr/>
      </dsp:nvSpPr>
      <dsp:spPr>
        <a:xfrm>
          <a:off x="7228536" y="90470"/>
          <a:ext cx="897246" cy="897246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80AB88D-02A1-43F8-A1E0-207B2B281EB5}">
      <dsp:nvSpPr>
        <dsp:cNvPr id="0" name=""/>
        <dsp:cNvSpPr/>
      </dsp:nvSpPr>
      <dsp:spPr>
        <a:xfrm>
          <a:off x="7416958" y="278892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EEDAA7D-9D15-4F83-9E8F-1D754D54BFC9}">
      <dsp:nvSpPr>
        <dsp:cNvPr id="0" name=""/>
        <dsp:cNvSpPr/>
      </dsp:nvSpPr>
      <dsp:spPr>
        <a:xfrm>
          <a:off x="8318049" y="90470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Data Cleaning &amp; Transformation</a:t>
          </a:r>
          <a:endParaRPr lang="en-US" sz="1900" kern="1200"/>
        </a:p>
      </dsp:txBody>
      <dsp:txXfrm>
        <a:off x="8318049" y="90470"/>
        <a:ext cx="2114937" cy="897246"/>
      </dsp:txXfrm>
    </dsp:sp>
    <dsp:sp modelId="{4D83E676-BA56-4DC4-8896-7F0D0CF83EA4}">
      <dsp:nvSpPr>
        <dsp:cNvPr id="0" name=""/>
        <dsp:cNvSpPr/>
      </dsp:nvSpPr>
      <dsp:spPr>
        <a:xfrm>
          <a:off x="82613" y="1727649"/>
          <a:ext cx="897246" cy="897246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CD5B838-EFF7-4ED9-8548-4588CDAA180D}">
      <dsp:nvSpPr>
        <dsp:cNvPr id="0" name=""/>
        <dsp:cNvSpPr/>
      </dsp:nvSpPr>
      <dsp:spPr>
        <a:xfrm>
          <a:off x="271034" y="1916070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78A493A-2DCB-4027-8206-24E8311C2F03}">
      <dsp:nvSpPr>
        <dsp:cNvPr id="0" name=""/>
        <dsp:cNvSpPr/>
      </dsp:nvSpPr>
      <dsp:spPr>
        <a:xfrm>
          <a:off x="1172126" y="172764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Data Model &amp; Relationships</a:t>
          </a:r>
          <a:endParaRPr lang="en-US" sz="1900" kern="1200"/>
        </a:p>
      </dsp:txBody>
      <dsp:txXfrm>
        <a:off x="1172126" y="1727649"/>
        <a:ext cx="2114937" cy="897246"/>
      </dsp:txXfrm>
    </dsp:sp>
    <dsp:sp modelId="{C4C5DB8B-46A4-4464-9E33-C620702BFF59}">
      <dsp:nvSpPr>
        <dsp:cNvPr id="0" name=""/>
        <dsp:cNvSpPr/>
      </dsp:nvSpPr>
      <dsp:spPr>
        <a:xfrm>
          <a:off x="3655575" y="1727649"/>
          <a:ext cx="897246" cy="897246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C756B95-CE4C-4802-8B7F-0FD398D60B53}">
      <dsp:nvSpPr>
        <dsp:cNvPr id="0" name=""/>
        <dsp:cNvSpPr/>
      </dsp:nvSpPr>
      <dsp:spPr>
        <a:xfrm>
          <a:off x="3843996" y="1855927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0BDC1E2-AB46-4211-84A0-B668E9A8F634}">
      <dsp:nvSpPr>
        <dsp:cNvPr id="0" name=""/>
        <dsp:cNvSpPr/>
      </dsp:nvSpPr>
      <dsp:spPr>
        <a:xfrm>
          <a:off x="4745088" y="172764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Dashboard &amp; Analysis</a:t>
          </a:r>
          <a:endParaRPr lang="en-US" sz="1900" kern="1200"/>
        </a:p>
      </dsp:txBody>
      <dsp:txXfrm>
        <a:off x="4745088" y="1727649"/>
        <a:ext cx="2114937" cy="897246"/>
      </dsp:txXfrm>
    </dsp:sp>
    <dsp:sp modelId="{68A51960-E182-4148-B526-9FC2720125FB}">
      <dsp:nvSpPr>
        <dsp:cNvPr id="0" name=""/>
        <dsp:cNvSpPr/>
      </dsp:nvSpPr>
      <dsp:spPr>
        <a:xfrm>
          <a:off x="7228536" y="1727649"/>
          <a:ext cx="897246" cy="897246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B7B13F3-1221-492D-9907-DFAB8545384C}">
      <dsp:nvSpPr>
        <dsp:cNvPr id="0" name=""/>
        <dsp:cNvSpPr/>
      </dsp:nvSpPr>
      <dsp:spPr>
        <a:xfrm>
          <a:off x="7416958" y="1916070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B099668-2489-46F7-B50F-77F353E2A015}">
      <dsp:nvSpPr>
        <dsp:cNvPr id="0" name=""/>
        <dsp:cNvSpPr/>
      </dsp:nvSpPr>
      <dsp:spPr>
        <a:xfrm>
          <a:off x="8318049" y="172764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Key Insights</a:t>
          </a:r>
          <a:endParaRPr lang="en-US" sz="1900" kern="1200"/>
        </a:p>
      </dsp:txBody>
      <dsp:txXfrm>
        <a:off x="8318049" y="1727649"/>
        <a:ext cx="2114937" cy="897246"/>
      </dsp:txXfrm>
    </dsp:sp>
    <dsp:sp modelId="{39E5F03C-47A5-4353-984B-90E488DC8D30}">
      <dsp:nvSpPr>
        <dsp:cNvPr id="0" name=""/>
        <dsp:cNvSpPr/>
      </dsp:nvSpPr>
      <dsp:spPr>
        <a:xfrm>
          <a:off x="82613" y="3364827"/>
          <a:ext cx="897246" cy="897246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2CDD834-C9DF-422A-91BF-FFFAC2654488}">
      <dsp:nvSpPr>
        <dsp:cNvPr id="0" name=""/>
        <dsp:cNvSpPr/>
      </dsp:nvSpPr>
      <dsp:spPr>
        <a:xfrm>
          <a:off x="271034" y="3553249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4FFE805-10B6-4582-B73A-DF4E8128D5F6}">
      <dsp:nvSpPr>
        <dsp:cNvPr id="0" name=""/>
        <dsp:cNvSpPr/>
      </dsp:nvSpPr>
      <dsp:spPr>
        <a:xfrm>
          <a:off x="1172126" y="3364827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Business Recommendations</a:t>
          </a:r>
          <a:endParaRPr lang="en-US" sz="1900" kern="1200"/>
        </a:p>
      </dsp:txBody>
      <dsp:txXfrm>
        <a:off x="1172126" y="3364827"/>
        <a:ext cx="2114937" cy="897246"/>
      </dsp:txXfrm>
    </dsp:sp>
    <dsp:sp modelId="{AFA384A4-AF0A-462F-A49B-9BEFDD746971}">
      <dsp:nvSpPr>
        <dsp:cNvPr id="0" name=""/>
        <dsp:cNvSpPr/>
      </dsp:nvSpPr>
      <dsp:spPr>
        <a:xfrm>
          <a:off x="3655575" y="3364827"/>
          <a:ext cx="897246" cy="897246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3912865-FB9F-41D5-A9AB-B111996D42C4}">
      <dsp:nvSpPr>
        <dsp:cNvPr id="0" name=""/>
        <dsp:cNvSpPr/>
      </dsp:nvSpPr>
      <dsp:spPr>
        <a:xfrm>
          <a:off x="3843996" y="3553249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C46E0F2-7C48-4258-B98E-9A20E1E41C87}">
      <dsp:nvSpPr>
        <dsp:cNvPr id="0" name=""/>
        <dsp:cNvSpPr/>
      </dsp:nvSpPr>
      <dsp:spPr>
        <a:xfrm>
          <a:off x="4745088" y="3364827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Conclusion</a:t>
          </a:r>
          <a:endParaRPr lang="en-US" sz="1900" kern="1200"/>
        </a:p>
      </dsp:txBody>
      <dsp:txXfrm>
        <a:off x="4745088" y="3364827"/>
        <a:ext cx="2114937" cy="8972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743510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281267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hekbagai-1704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linkedin.com/in/mahek-bagai-080576398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81951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312" y="3847195"/>
            <a:ext cx="7246189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IN" sz="3200" b="1" dirty="0">
                <a:solidFill>
                  <a:schemeClr val="dk1"/>
                </a:solidFill>
                <a:latin typeface="Baskerville Old Face" panose="02020602080505020303" pitchFamily="18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GLOBAL SALES &amp; PERFORMANCE ANALYSIS</a:t>
            </a:r>
            <a:endParaRPr sz="3200" b="1" dirty="0">
              <a:solidFill>
                <a:schemeClr val="dk1"/>
              </a:solidFill>
              <a:latin typeface="Baskerville Old Face" panose="02020602080505020303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BDE102-C70F-F268-C4CC-C17D2E69810D}"/>
              </a:ext>
            </a:extLst>
          </p:cNvPr>
          <p:cNvSpPr txBox="1"/>
          <p:nvPr/>
        </p:nvSpPr>
        <p:spPr>
          <a:xfrm>
            <a:off x="8415552" y="5156501"/>
            <a:ext cx="29121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Presented by: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Mahek Sham</a:t>
            </a:r>
            <a:r>
              <a:rPr lang="en-US" sz="2000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Bagai</a:t>
            </a:r>
            <a:endParaRPr lang="en-IN" sz="2000" dirty="0">
              <a:solidFill>
                <a:schemeClr val="tx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737811" y="1299172"/>
            <a:ext cx="9968981" cy="4801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2100" b="1" dirty="0"/>
              <a:t>Academic</a:t>
            </a:r>
            <a:r>
              <a:rPr lang="en-IN" sz="1800" dirty="0"/>
              <a:t> </a:t>
            </a:r>
            <a:r>
              <a:rPr lang="en-IN" sz="2100" b="1" dirty="0"/>
              <a:t>Background</a:t>
            </a:r>
            <a:r>
              <a:rPr lang="en-IN" sz="1800" dirty="0"/>
              <a:t>: </a:t>
            </a:r>
            <a:r>
              <a:rPr lang="en-US" sz="2100" dirty="0"/>
              <a:t>M.Sc. Physics (Pursuing)</a:t>
            </a:r>
          </a:p>
          <a:p>
            <a:endParaRPr lang="en-IN" sz="1800" dirty="0"/>
          </a:p>
          <a:p>
            <a:r>
              <a:rPr lang="en-IN" sz="2100" b="1" dirty="0"/>
              <a:t>Current Focus: </a:t>
            </a:r>
            <a:r>
              <a:rPr lang="en-IN" sz="1800" dirty="0"/>
              <a:t>Data Science &amp; Analytics</a:t>
            </a:r>
          </a:p>
          <a:p>
            <a:endParaRPr lang="en-IN" sz="1800" dirty="0"/>
          </a:p>
          <a:p>
            <a:r>
              <a:rPr lang="en-IN" sz="2100" b="1" dirty="0"/>
              <a:t>Experience:</a:t>
            </a:r>
            <a:r>
              <a:rPr lang="en-IN" sz="1800" dirty="0"/>
              <a:t> </a:t>
            </a:r>
            <a:r>
              <a:rPr lang="en-US" sz="2100" dirty="0"/>
              <a:t>Fresher </a:t>
            </a:r>
          </a:p>
          <a:p>
            <a:endParaRPr lang="en-IN" sz="1800" dirty="0"/>
          </a:p>
          <a:p>
            <a:r>
              <a:rPr lang="en-IN" sz="2100" b="1" dirty="0"/>
              <a:t>Project Experience: </a:t>
            </a:r>
            <a:r>
              <a:rPr lang="en-IN" sz="2100" dirty="0"/>
              <a:t>Machine Learning &amp; Data Analytics Projects</a:t>
            </a:r>
          </a:p>
          <a:p>
            <a:endParaRPr lang="en-IN" sz="1800" dirty="0"/>
          </a:p>
          <a:p>
            <a:r>
              <a:rPr lang="en-IN" sz="2100" b="1" dirty="0"/>
              <a:t>Career Interest: </a:t>
            </a:r>
            <a:r>
              <a:rPr lang="en-IN" sz="2100" dirty="0"/>
              <a:t>Data Analytics, Machine Learning &amp; AI</a:t>
            </a:r>
          </a:p>
          <a:p>
            <a:endParaRPr lang="en-IN" sz="2100" dirty="0"/>
          </a:p>
          <a:p>
            <a:r>
              <a:rPr lang="en-IN" sz="2100" b="1" dirty="0" err="1">
                <a:sym typeface="Calibri" panose="020F0502020204030204"/>
              </a:rPr>
              <a:t>Github</a:t>
            </a:r>
            <a:r>
              <a:rPr lang="en-IN" sz="20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IN" sz="2100" b="1" dirty="0">
                <a:sym typeface="Calibri" panose="020F0502020204030204"/>
              </a:rPr>
              <a:t>Profile</a:t>
            </a:r>
            <a:r>
              <a:rPr lang="en-IN" sz="20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2400" b="1" dirty="0"/>
              <a:t>–</a:t>
            </a:r>
            <a:r>
              <a:rPr lang="en-IN" sz="24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IN" sz="24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  <a:hlinkClick r:id="rId3"/>
              </a:rPr>
              <a:t>https://github.com/mahekbagai-1704</a:t>
            </a:r>
            <a:endParaRPr lang="en-IN" sz="2400" b="1" dirty="0"/>
          </a:p>
          <a:p>
            <a:endParaRPr lang="en-IN" sz="18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LinkedIn Profile URL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–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hlinkClick r:id="rId4"/>
              </a:rPr>
              <a:t>https://www.linkedin.com/in/mahek-bagai-080576398</a:t>
            </a:r>
            <a:endParaRPr kumimoji="0" lang="en-I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endParaRPr lang="en-IN" sz="1800" dirty="0"/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6099463" cy="535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600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Lato Black"/>
              </a:rPr>
              <a:t>About</a:t>
            </a: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r>
              <a:rPr lang="en-IN" sz="3600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Lato Black"/>
              </a:rPr>
              <a:t>me</a:t>
            </a:r>
            <a:endParaRPr sz="3600" dirty="0">
              <a:solidFill>
                <a:srgbClr val="FF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1076739" y="269600"/>
            <a:ext cx="10515600" cy="1325563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sz="4000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Arial"/>
              </a:rPr>
              <a:t>Agenda</a:t>
            </a:r>
          </a:p>
        </p:txBody>
      </p:sp>
      <p:graphicFrame>
        <p:nvGraphicFramePr>
          <p:cNvPr id="115" name="Google Shape;111;p4">
            <a:extLst>
              <a:ext uri="{FF2B5EF4-FFF2-40B4-BE49-F238E27FC236}">
                <a16:creationId xmlns:a16="http://schemas.microsoft.com/office/drawing/2014/main" id="{6BA03148-98A7-0DD9-11F3-772035F10B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51811814"/>
              </p:ext>
            </p:extLst>
          </p:nvPr>
        </p:nvGraphicFramePr>
        <p:xfrm>
          <a:off x="838200" y="1573074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BCD4B4-2221-259E-E3F0-8967AC50B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3414" y="668337"/>
            <a:ext cx="5157787" cy="600870"/>
          </a:xfrm>
        </p:spPr>
        <p:txBody>
          <a:bodyPr>
            <a:noAutofit/>
          </a:bodyPr>
          <a:lstStyle/>
          <a:p>
            <a:pPr marL="114300" indent="0" algn="ctr">
              <a:buSzPts val="1800"/>
            </a:pPr>
            <a:r>
              <a:rPr lang="en-US" sz="3200" b="0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BUSINESS PROBLEM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82299A-873F-798F-7D84-4F0EE59268C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1460938"/>
            <a:ext cx="5157787" cy="4728725"/>
          </a:xfrm>
        </p:spPr>
        <p:txBody>
          <a:bodyPr>
            <a:normAutofit/>
          </a:bodyPr>
          <a:lstStyle/>
          <a:p>
            <a:r>
              <a:rPr lang="en-US" sz="2400" dirty="0"/>
              <a:t>Large volume of sales and operational data</a:t>
            </a:r>
          </a:p>
          <a:p>
            <a:r>
              <a:rPr lang="en-US" sz="2400" dirty="0"/>
              <a:t>Difficult to track overall business performance</a:t>
            </a:r>
          </a:p>
          <a:p>
            <a:r>
              <a:rPr lang="en-US" sz="2400" dirty="0"/>
              <a:t>Need to understand sales, profit, returns and regional performance</a:t>
            </a:r>
          </a:p>
          <a:p>
            <a:r>
              <a:rPr lang="en-US" sz="2400" dirty="0"/>
              <a:t>Raw data alone does not provide clear business insights</a:t>
            </a:r>
            <a:endParaRPr lang="en-IN" sz="2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78EE1C-A296-5029-925C-CF4A86398A0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886313" y="570919"/>
            <a:ext cx="5183188" cy="600870"/>
          </a:xfrm>
        </p:spPr>
        <p:txBody>
          <a:bodyPr>
            <a:noAutofit/>
          </a:bodyPr>
          <a:lstStyle/>
          <a:p>
            <a:pPr marL="114300" indent="0" algn="ctr">
              <a:buSzPts val="1800"/>
            </a:pPr>
            <a:r>
              <a:rPr lang="en-US" sz="3200" b="0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OBJECTIVE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327747-B9F0-399A-242C-54B1473EAEAE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6172200" y="1261241"/>
            <a:ext cx="5183188" cy="4928422"/>
          </a:xfrm>
        </p:spPr>
        <p:txBody>
          <a:bodyPr>
            <a:normAutofit/>
          </a:bodyPr>
          <a:lstStyle/>
          <a:p>
            <a:r>
              <a:rPr lang="en-US" sz="2400" dirty="0"/>
              <a:t>Build an interactive Power BI dashboard</a:t>
            </a:r>
          </a:p>
          <a:p>
            <a:r>
              <a:rPr lang="en-US" sz="2400" dirty="0"/>
              <a:t>Analyze sales and profitability</a:t>
            </a:r>
          </a:p>
          <a:p>
            <a:r>
              <a:rPr lang="en-US" sz="2400" dirty="0"/>
              <a:t>Identify regional, product and customer trends</a:t>
            </a:r>
          </a:p>
          <a:p>
            <a:r>
              <a:rPr lang="en-US" sz="2400" dirty="0"/>
              <a:t>Analyze returns and shipping performance</a:t>
            </a:r>
          </a:p>
          <a:p>
            <a:r>
              <a:rPr lang="en-US" sz="2400" dirty="0"/>
              <a:t>Support data-driven business decisions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16451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C8897-709A-2356-AFC0-997EF8408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6799" y="194296"/>
            <a:ext cx="6618402" cy="973481"/>
          </a:xfrm>
        </p:spPr>
        <p:txBody>
          <a:bodyPr>
            <a:normAutofit/>
          </a:bodyPr>
          <a:lstStyle/>
          <a:p>
            <a:pPr algn="ctr"/>
            <a:r>
              <a:rPr lang="en-IN" sz="3000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BUSINESS REQUIREMENTS &amp; </a:t>
            </a:r>
            <a:br>
              <a:rPr lang="en-IN" sz="3000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IN" sz="3000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KEY ANALYSIS QUESTIONS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4BAC84-AFC6-101E-41BB-193549F9C8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1595" y="1224437"/>
            <a:ext cx="11255603" cy="5439267"/>
          </a:xfrm>
        </p:spPr>
        <p:txBody>
          <a:bodyPr>
            <a:normAutofit fontScale="92500" lnSpcReduction="20000"/>
          </a:bodyPr>
          <a:lstStyle/>
          <a:p>
            <a:r>
              <a:rPr lang="en-IN" sz="2200" b="1" dirty="0"/>
              <a:t>01 — Overall Performance</a:t>
            </a:r>
            <a:br>
              <a:rPr lang="en-IN" sz="2200" dirty="0"/>
            </a:br>
            <a:r>
              <a:rPr lang="en-IN" sz="2200" dirty="0"/>
              <a:t>How are overall </a:t>
            </a:r>
            <a:r>
              <a:rPr lang="en-IN" sz="2200" b="1" dirty="0"/>
              <a:t>sales and profitability</a:t>
            </a:r>
            <a:r>
              <a:rPr lang="en-IN" sz="2200" dirty="0"/>
              <a:t> performing?</a:t>
            </a:r>
          </a:p>
          <a:p>
            <a:endParaRPr lang="en-IN" sz="2200" dirty="0"/>
          </a:p>
          <a:p>
            <a:r>
              <a:rPr lang="en-IN" sz="2200" b="1" dirty="0"/>
              <a:t>02 — Sales Performance</a:t>
            </a:r>
            <a:br>
              <a:rPr lang="en-IN" sz="2200" dirty="0"/>
            </a:br>
            <a:r>
              <a:rPr lang="en-IN" sz="2200" dirty="0"/>
              <a:t>Which </a:t>
            </a:r>
            <a:r>
              <a:rPr lang="en-IN" sz="2200" b="1" dirty="0"/>
              <a:t>regions, markets, categories and products</a:t>
            </a:r>
            <a:r>
              <a:rPr lang="en-IN" sz="2200" dirty="0"/>
              <a:t> generate the highest sales?</a:t>
            </a:r>
          </a:p>
          <a:p>
            <a:endParaRPr lang="en-IN" sz="2200" dirty="0"/>
          </a:p>
          <a:p>
            <a:r>
              <a:rPr lang="en-IN" sz="2200" b="1" dirty="0"/>
              <a:t>03 — Profitability</a:t>
            </a:r>
            <a:br>
              <a:rPr lang="en-IN" sz="2200" dirty="0"/>
            </a:br>
            <a:r>
              <a:rPr lang="en-IN" sz="2200" dirty="0"/>
              <a:t>Which </a:t>
            </a:r>
            <a:r>
              <a:rPr lang="en-IN" sz="2200" b="1" dirty="0"/>
              <a:t>regions, categories and segments</a:t>
            </a:r>
            <a:r>
              <a:rPr lang="en-IN" sz="2200" dirty="0"/>
              <a:t> contribute most to profit?</a:t>
            </a:r>
          </a:p>
          <a:p>
            <a:endParaRPr lang="en-IN" sz="2200" dirty="0"/>
          </a:p>
          <a:p>
            <a:r>
              <a:rPr lang="en-IN" sz="2200" b="1" dirty="0"/>
              <a:t>04 — Discount Impact</a:t>
            </a:r>
            <a:br>
              <a:rPr lang="en-IN" sz="2200" dirty="0"/>
            </a:br>
            <a:r>
              <a:rPr lang="en-IN" sz="2200" dirty="0"/>
              <a:t>How does </a:t>
            </a:r>
            <a:r>
              <a:rPr lang="en-IN" sz="2200" b="1" dirty="0"/>
              <a:t>discounting affect profitability</a:t>
            </a:r>
            <a:r>
              <a:rPr lang="en-IN" sz="2200" dirty="0"/>
              <a:t>?</a:t>
            </a:r>
          </a:p>
          <a:p>
            <a:endParaRPr lang="en-IN" sz="2200" dirty="0"/>
          </a:p>
          <a:p>
            <a:r>
              <a:rPr lang="en-IN" sz="2200" b="1" dirty="0"/>
              <a:t>05 — Returns</a:t>
            </a:r>
            <a:br>
              <a:rPr lang="en-IN" sz="2200" dirty="0"/>
            </a:br>
            <a:r>
              <a:rPr lang="en-IN" sz="2200" dirty="0"/>
              <a:t>Where are </a:t>
            </a:r>
            <a:r>
              <a:rPr lang="en-IN" sz="2200" b="1" dirty="0"/>
              <a:t>returns concentrated</a:t>
            </a:r>
            <a:r>
              <a:rPr lang="en-IN" sz="2200" dirty="0"/>
              <a:t>, and which regions have higher return rates?</a:t>
            </a:r>
          </a:p>
          <a:p>
            <a:endParaRPr lang="en-IN" sz="2200" dirty="0"/>
          </a:p>
          <a:p>
            <a:r>
              <a:rPr lang="en-IN" sz="2200" b="1" dirty="0"/>
              <a:t>06 — Shipping &amp; Regional Performance</a:t>
            </a:r>
            <a:br>
              <a:rPr lang="en-IN" sz="2200" dirty="0"/>
            </a:br>
            <a:r>
              <a:rPr lang="en-IN" sz="2200" dirty="0"/>
              <a:t>How do </a:t>
            </a:r>
            <a:r>
              <a:rPr lang="en-IN" sz="2200" b="1" dirty="0"/>
              <a:t>shipping costs and regional performance</a:t>
            </a:r>
            <a:r>
              <a:rPr lang="en-IN" sz="2200" dirty="0"/>
              <a:t> vary across the business?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2978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6BD35-D3CF-F9E5-A001-1CB1A1828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7612" y="76680"/>
            <a:ext cx="3348291" cy="709255"/>
          </a:xfrm>
        </p:spPr>
        <p:txBody>
          <a:bodyPr>
            <a:noAutofit/>
          </a:bodyPr>
          <a:lstStyle/>
          <a:p>
            <a:pPr algn="ctr"/>
            <a:r>
              <a:rPr lang="en-IN" sz="3200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RAW DATASET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28FF9E-D4C1-F0A0-FEA8-F6177969DC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255" y="548384"/>
            <a:ext cx="11711006" cy="6309616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31D27F-9196-89C7-BD7C-804F50CA9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051" y="888564"/>
            <a:ext cx="7056241" cy="22979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469061-FE4A-FD6C-BB3A-2257B3EC1F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554" y="3754740"/>
            <a:ext cx="4681330" cy="10237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F419E8-29AC-FB41-8156-D97199A6F1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7662" y="3521732"/>
            <a:ext cx="2731748" cy="24460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F108D8-AFEC-D65A-FE87-CFE72BACD5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4985" y="5537134"/>
            <a:ext cx="2387191" cy="10237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B974A1B-8374-C2AB-940B-741BB7C6F8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7591" y="5567826"/>
            <a:ext cx="2128838" cy="10033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9E00FAF-D6D4-D216-AD11-206F140D3DA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758" t="3954" r="35573" b="16109"/>
          <a:stretch>
            <a:fillRect/>
          </a:stretch>
        </p:blipFill>
        <p:spPr>
          <a:xfrm>
            <a:off x="8299327" y="1135454"/>
            <a:ext cx="2203419" cy="171430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314ECE0-130B-43F8-0947-DD76DD798A03}"/>
              </a:ext>
            </a:extLst>
          </p:cNvPr>
          <p:cNvSpPr txBox="1"/>
          <p:nvPr/>
        </p:nvSpPr>
        <p:spPr>
          <a:xfrm>
            <a:off x="482051" y="559480"/>
            <a:ext cx="3459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Orders - Raw Structure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49635B-1F53-A28B-1506-5A07158E8CCD}"/>
              </a:ext>
            </a:extLst>
          </p:cNvPr>
          <p:cNvSpPr txBox="1"/>
          <p:nvPr/>
        </p:nvSpPr>
        <p:spPr>
          <a:xfrm>
            <a:off x="3771554" y="3406888"/>
            <a:ext cx="3459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Returns - Raw Structure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262653-C370-5C65-6BD1-8B4C3E1A7A46}"/>
              </a:ext>
            </a:extLst>
          </p:cNvPr>
          <p:cNvSpPr txBox="1"/>
          <p:nvPr/>
        </p:nvSpPr>
        <p:spPr>
          <a:xfrm>
            <a:off x="8758046" y="3152400"/>
            <a:ext cx="3305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People - Raw Structure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58A8E1-2F51-44B4-66B0-3F29F929B290}"/>
              </a:ext>
            </a:extLst>
          </p:cNvPr>
          <p:cNvSpPr txBox="1"/>
          <p:nvPr/>
        </p:nvSpPr>
        <p:spPr>
          <a:xfrm>
            <a:off x="3446061" y="5223352"/>
            <a:ext cx="270939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700" b="1" dirty="0"/>
              <a:t>Table_1 - Duplicate Data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3B26C1-DC96-4571-EC13-900AFD85CEBE}"/>
              </a:ext>
            </a:extLst>
          </p:cNvPr>
          <p:cNvSpPr txBox="1"/>
          <p:nvPr/>
        </p:nvSpPr>
        <p:spPr>
          <a:xfrm>
            <a:off x="6182370" y="5231047"/>
            <a:ext cx="2557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/>
              <a:t>Table_2 - Duplicate Data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130C5F-6AC9-5F33-5620-114C16CA0287}"/>
              </a:ext>
            </a:extLst>
          </p:cNvPr>
          <p:cNvSpPr txBox="1"/>
          <p:nvPr/>
        </p:nvSpPr>
        <p:spPr>
          <a:xfrm>
            <a:off x="8452884" y="548384"/>
            <a:ext cx="2988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RAW DATASET – INITIAL TABLE STRUCTURE</a:t>
            </a:r>
            <a:endParaRPr lang="en-IN" sz="17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BE98F3D-9104-7619-53BC-2A98810174A2}"/>
              </a:ext>
            </a:extLst>
          </p:cNvPr>
          <p:cNvSpPr txBox="1"/>
          <p:nvPr/>
        </p:nvSpPr>
        <p:spPr>
          <a:xfrm>
            <a:off x="128590" y="3442792"/>
            <a:ext cx="3035162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b="1" dirty="0"/>
              <a:t>Orders - </a:t>
            </a:r>
            <a:r>
              <a:rPr lang="en-IN" sz="1500" dirty="0"/>
              <a:t>Main transaction data</a:t>
            </a:r>
          </a:p>
          <a:p>
            <a:endParaRPr lang="en-IN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b="1" dirty="0"/>
              <a:t>Returns - </a:t>
            </a:r>
            <a:r>
              <a:rPr lang="en-IN" sz="1500" dirty="0"/>
              <a:t>Returned order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b="1" dirty="0"/>
              <a:t>People - </a:t>
            </a:r>
            <a:r>
              <a:rPr lang="en-IN" sz="1500" dirty="0"/>
              <a:t>Regional manager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b="1" dirty="0"/>
              <a:t>Table_1 - </a:t>
            </a:r>
            <a:r>
              <a:rPr lang="en-IN" sz="1500" dirty="0"/>
              <a:t>Duplicate of Returns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b="1" dirty="0"/>
              <a:t>Table_2 - </a:t>
            </a:r>
            <a:r>
              <a:rPr lang="en-IN" sz="1500" dirty="0"/>
              <a:t>Duplicate of People</a:t>
            </a:r>
          </a:p>
        </p:txBody>
      </p:sp>
    </p:spTree>
    <p:extLst>
      <p:ext uri="{BB962C8B-B14F-4D97-AF65-F5344CB8AC3E}">
        <p14:creationId xmlns:p14="http://schemas.microsoft.com/office/powerpoint/2010/main" val="951714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F5FFE-1842-0AAB-05DF-867060F1C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0401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 CLEANING &amp; TRANSFORMATION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123B71-0C5A-CDFF-3E03-907F7DFC1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1028" y="983694"/>
            <a:ext cx="5181600" cy="530017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1700" b="1" dirty="0">
                <a:solidFill>
                  <a:schemeClr val="accent1">
                    <a:lumMod val="50000"/>
                  </a:schemeClr>
                </a:solidFill>
                <a:latin typeface="Congenial Black" panose="02000503040000020004" pitchFamily="2" charset="0"/>
              </a:rPr>
              <a:t>KEY DATA  PREPARATION STEPS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IN" sz="2000" dirty="0"/>
              <a:t>• Removed duplicate tables</a:t>
            </a:r>
          </a:p>
          <a:p>
            <a:pPr marL="114300" indent="0">
              <a:buNone/>
            </a:pPr>
            <a:br>
              <a:rPr lang="en-IN" sz="2000" dirty="0"/>
            </a:br>
            <a:r>
              <a:rPr lang="en-IN" sz="2000" dirty="0"/>
              <a:t>• Corrected column names &amp; data types</a:t>
            </a:r>
          </a:p>
          <a:p>
            <a:pPr marL="114300" indent="0">
              <a:buNone/>
            </a:pPr>
            <a:br>
              <a:rPr lang="en-IN" sz="2000" dirty="0"/>
            </a:br>
            <a:r>
              <a:rPr lang="en-IN" sz="2000" dirty="0"/>
              <a:t>• Handled missing values</a:t>
            </a:r>
            <a:br>
              <a:rPr lang="en-IN" sz="2000" dirty="0"/>
            </a:br>
            <a:endParaRPr lang="en-IN" sz="2000" dirty="0"/>
          </a:p>
          <a:p>
            <a:pPr marL="114300" indent="0">
              <a:buNone/>
            </a:pPr>
            <a:r>
              <a:rPr lang="en-IN" sz="2000" dirty="0"/>
              <a:t>• Cleaned and transformed date fields</a:t>
            </a:r>
            <a:br>
              <a:rPr lang="en-IN" sz="2000" dirty="0"/>
            </a:br>
            <a:endParaRPr lang="en-IN" sz="2000" dirty="0"/>
          </a:p>
          <a:p>
            <a:pPr marL="114300" indent="0">
              <a:buNone/>
            </a:pPr>
            <a:r>
              <a:rPr lang="en-IN" sz="2000" dirty="0"/>
              <a:t>• Split/extracted required columns</a:t>
            </a:r>
            <a:br>
              <a:rPr lang="en-IN" sz="2000" dirty="0"/>
            </a:br>
            <a:endParaRPr lang="en-IN" sz="2000" dirty="0"/>
          </a:p>
          <a:p>
            <a:pPr marL="114300" indent="0">
              <a:buNone/>
            </a:pPr>
            <a:r>
              <a:rPr lang="en-IN" sz="2000" dirty="0"/>
              <a:t>• Prepared tables for relationships</a:t>
            </a:r>
          </a:p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C37E2C-FFB9-9C48-2F9E-1BE2E0318B4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676309" y="1193015"/>
            <a:ext cx="6124663" cy="4194041"/>
          </a:xfrm>
          <a:noFill/>
        </p:spPr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873513-3B32-0BF0-09BE-ABA778B3D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996" y="2430693"/>
            <a:ext cx="967824" cy="9983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98AA8E-26D4-3E38-F09A-B1B5B9D780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651"/>
          <a:stretch>
            <a:fillRect/>
          </a:stretch>
        </p:blipFill>
        <p:spPr>
          <a:xfrm>
            <a:off x="6019723" y="1338228"/>
            <a:ext cx="1562100" cy="25588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B0964AA-D0B7-1AC1-7000-0A1209AA228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8582"/>
          <a:stretch>
            <a:fillRect/>
          </a:stretch>
        </p:blipFill>
        <p:spPr>
          <a:xfrm>
            <a:off x="7925237" y="1338228"/>
            <a:ext cx="2321670" cy="186310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D33A594-F957-32E5-CEF3-A3017D27766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277"/>
          <a:stretch>
            <a:fillRect/>
          </a:stretch>
        </p:blipFill>
        <p:spPr>
          <a:xfrm>
            <a:off x="8001912" y="3429000"/>
            <a:ext cx="2301454" cy="170625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16CA9B7-0CA1-AC8F-84FC-9E45A64E8ABE}"/>
              </a:ext>
            </a:extLst>
          </p:cNvPr>
          <p:cNvSpPr txBox="1"/>
          <p:nvPr/>
        </p:nvSpPr>
        <p:spPr>
          <a:xfrm>
            <a:off x="2424249" y="5774603"/>
            <a:ext cx="6920484" cy="3385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IN" sz="1600" b="1" dirty="0">
                <a:latin typeface="Aptos Black" panose="020B0004020202020204" pitchFamily="34" charset="0"/>
              </a:rPr>
              <a:t>RAW DATA → CLEANING → TRANSFORMATION → ANALYSIS-READY DATA</a:t>
            </a:r>
          </a:p>
        </p:txBody>
      </p:sp>
    </p:spTree>
    <p:extLst>
      <p:ext uri="{BB962C8B-B14F-4D97-AF65-F5344CB8AC3E}">
        <p14:creationId xmlns:p14="http://schemas.microsoft.com/office/powerpoint/2010/main" val="1139572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C79286E-F0FF-345F-7C76-44F2C92A8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70" y="283087"/>
            <a:ext cx="5300787" cy="529397"/>
          </a:xfrm>
        </p:spPr>
        <p:txBody>
          <a:bodyPr>
            <a:normAutofit fontScale="90000"/>
          </a:bodyPr>
          <a:lstStyle/>
          <a:p>
            <a:r>
              <a:rPr lang="en-IN" sz="3200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FINAL DATASET OVERVIEW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C45ED2-5E39-30E4-6AD2-567F50E42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2846" y="681437"/>
            <a:ext cx="4516300" cy="14378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45E9EA-4CF6-27B2-C8AF-C526D4933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2846" y="2244298"/>
            <a:ext cx="4591278" cy="12638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97B646A-E7FA-E40A-BC14-D42CF72067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6391" y="760916"/>
            <a:ext cx="1674947" cy="14378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2B4AB94-C254-D632-BD16-8DFD521684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6950" y="3678226"/>
            <a:ext cx="3727174" cy="203060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84F0B83-35DA-DE19-C383-767C2535DBCE}"/>
              </a:ext>
            </a:extLst>
          </p:cNvPr>
          <p:cNvSpPr txBox="1"/>
          <p:nvPr/>
        </p:nvSpPr>
        <p:spPr>
          <a:xfrm>
            <a:off x="744715" y="1631339"/>
            <a:ext cx="3246259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b="1" dirty="0">
                <a:latin typeface="Aptos Slab Black" panose="020F0502020204030204" pitchFamily="34" charset="0"/>
              </a:rPr>
              <a:t>ORDERS</a:t>
            </a:r>
            <a:br>
              <a:rPr lang="en-IN" dirty="0"/>
            </a:br>
            <a:r>
              <a:rPr lang="en-IN" sz="1500" i="1" dirty="0"/>
              <a:t>Main transaction &amp; sales data</a:t>
            </a:r>
          </a:p>
          <a:p>
            <a:endParaRPr lang="en-IN" dirty="0"/>
          </a:p>
          <a:p>
            <a:r>
              <a:rPr lang="en-IN" sz="1500" b="1" dirty="0">
                <a:latin typeface="Aptos Slab Black" panose="020B0004020202020204" pitchFamily="34" charset="0"/>
              </a:rPr>
              <a:t>RETURNS</a:t>
            </a:r>
            <a:br>
              <a:rPr lang="en-IN" sz="1500" dirty="0"/>
            </a:br>
            <a:r>
              <a:rPr lang="en-IN" sz="1500" i="1" dirty="0"/>
              <a:t>Returned order information</a:t>
            </a:r>
          </a:p>
          <a:p>
            <a:endParaRPr lang="en-IN" sz="1500" dirty="0"/>
          </a:p>
          <a:p>
            <a:r>
              <a:rPr lang="en-IN" sz="1500" b="1" dirty="0">
                <a:latin typeface="Aptos Slab Black" panose="020B0004020202020204" pitchFamily="34" charset="0"/>
              </a:rPr>
              <a:t>PEOPLE</a:t>
            </a:r>
            <a:br>
              <a:rPr lang="en-IN" sz="1500" dirty="0"/>
            </a:br>
            <a:r>
              <a:rPr lang="en-IN" sz="1500" i="1" dirty="0"/>
              <a:t>Regional manager &amp; region mapping</a:t>
            </a:r>
          </a:p>
          <a:p>
            <a:endParaRPr lang="en-IN" sz="1500" dirty="0"/>
          </a:p>
          <a:p>
            <a:r>
              <a:rPr lang="en-IN" sz="1500" b="1" dirty="0">
                <a:latin typeface="Aptos Slab Black" panose="020B0004020202020204" pitchFamily="34" charset="0"/>
              </a:rPr>
              <a:t>CALENDAR TABLE</a:t>
            </a:r>
            <a:br>
              <a:rPr lang="en-IN" sz="1500" dirty="0"/>
            </a:br>
            <a:r>
              <a:rPr lang="en-IN" sz="1500" i="1" dirty="0"/>
              <a:t>Date dimension for time-based analysis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06F25F-E9A4-337A-0AAC-A030A37A53A0}"/>
              </a:ext>
            </a:extLst>
          </p:cNvPr>
          <p:cNvSpPr txBox="1"/>
          <p:nvPr/>
        </p:nvSpPr>
        <p:spPr>
          <a:xfrm>
            <a:off x="1835917" y="5958847"/>
            <a:ext cx="6740948" cy="3385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IN" sz="1600" b="1" dirty="0">
                <a:latin typeface="Aptos Black" panose="020B0004020202020204" pitchFamily="34" charset="0"/>
              </a:rPr>
              <a:t>Cleaned</a:t>
            </a:r>
            <a:r>
              <a:rPr lang="en-IN" sz="1600" b="1" dirty="0"/>
              <a:t> </a:t>
            </a:r>
            <a:r>
              <a:rPr lang="en-IN" sz="1600" b="1" dirty="0">
                <a:latin typeface="Aptos Black" panose="020B0004020202020204" pitchFamily="34" charset="0"/>
              </a:rPr>
              <a:t>tables prepared for data modeling and dashboard analysis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0B194F2-DE3E-AADB-280C-209DFF7F4B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284277"/>
              </p:ext>
            </p:extLst>
          </p:nvPr>
        </p:nvGraphicFramePr>
        <p:xfrm>
          <a:off x="4556148" y="3780611"/>
          <a:ext cx="3246258" cy="1950720"/>
        </p:xfrm>
        <a:graphic>
          <a:graphicData uri="http://schemas.openxmlformats.org/drawingml/2006/table">
            <a:tbl>
              <a:tblPr firstRow="1">
                <a:tableStyleId>{93296810-A885-4BE3-A3E7-6D5BEEA58F35}</a:tableStyleId>
              </a:tblPr>
              <a:tblGrid>
                <a:gridCol w="1325046">
                  <a:extLst>
                    <a:ext uri="{9D8B030D-6E8A-4147-A177-3AD203B41FA5}">
                      <a16:colId xmlns:a16="http://schemas.microsoft.com/office/drawing/2014/main" val="1816323736"/>
                    </a:ext>
                  </a:extLst>
                </a:gridCol>
                <a:gridCol w="805621">
                  <a:extLst>
                    <a:ext uri="{9D8B030D-6E8A-4147-A177-3AD203B41FA5}">
                      <a16:colId xmlns:a16="http://schemas.microsoft.com/office/drawing/2014/main" val="555992826"/>
                    </a:ext>
                  </a:extLst>
                </a:gridCol>
                <a:gridCol w="1115591">
                  <a:extLst>
                    <a:ext uri="{9D8B030D-6E8A-4147-A177-3AD203B41FA5}">
                      <a16:colId xmlns:a16="http://schemas.microsoft.com/office/drawing/2014/main" val="4216592090"/>
                    </a:ext>
                  </a:extLst>
                </a:gridCol>
              </a:tblGrid>
              <a:tr h="439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Table</a:t>
                      </a:r>
                    </a:p>
                  </a:txBody>
                  <a:tcPr anchor="ctr">
                    <a:solidFill>
                      <a:srgbClr val="11786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No. of Rows</a:t>
                      </a:r>
                    </a:p>
                  </a:txBody>
                  <a:tcPr anchor="ctr">
                    <a:solidFill>
                      <a:srgbClr val="11786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No. of Columns</a:t>
                      </a:r>
                    </a:p>
                  </a:txBody>
                  <a:tcPr anchor="ctr">
                    <a:solidFill>
                      <a:srgbClr val="1178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962577"/>
                  </a:ext>
                </a:extLst>
              </a:tr>
              <a:tr h="2586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Orders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51,290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5229822"/>
                  </a:ext>
                </a:extLst>
              </a:tr>
              <a:tr h="2586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Returns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1,173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7021119"/>
                  </a:ext>
                </a:extLst>
              </a:tr>
              <a:tr h="2586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People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2102796"/>
                  </a:ext>
                </a:extLst>
              </a:tr>
              <a:tr h="3538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Calendar 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1,461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3402780"/>
                  </a:ext>
                </a:extLst>
              </a:tr>
            </a:tbl>
          </a:graphicData>
        </a:graphic>
      </p:graphicFrame>
      <p:pic>
        <p:nvPicPr>
          <p:cNvPr id="19" name="Picture 18">
            <a:extLst>
              <a:ext uri="{FF2B5EF4-FFF2-40B4-BE49-F238E27FC236}">
                <a16:creationId xmlns:a16="http://schemas.microsoft.com/office/drawing/2014/main" id="{781359ED-6AF7-5224-6793-B2D384DC3E7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8520"/>
          <a:stretch>
            <a:fillRect/>
          </a:stretch>
        </p:blipFill>
        <p:spPr>
          <a:xfrm>
            <a:off x="5258526" y="2369306"/>
            <a:ext cx="1674947" cy="1183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817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0C753-070D-AF34-3320-E4CC15709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2561" y="138495"/>
            <a:ext cx="7354478" cy="1325563"/>
          </a:xfrm>
        </p:spPr>
        <p:txBody>
          <a:bodyPr/>
          <a:lstStyle/>
          <a:p>
            <a:r>
              <a:rPr lang="en-IN" sz="3600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 MODEL &amp; RELATIONSHIPS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C5A49-75B6-B56E-730E-F27F51A662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3548" y="1395351"/>
            <a:ext cx="5218388" cy="4593076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>
                <a:solidFill>
                  <a:srgbClr val="000000"/>
                </a:solidFill>
                <a:latin typeface="Aptos Slab Black" panose="020F0502020204030204" pitchFamily="34" charset="0"/>
                <a:cs typeface="Arial"/>
                <a:sym typeface="Arial"/>
              </a:rPr>
              <a:t>ORDERS</a:t>
            </a:r>
            <a:br>
              <a:rPr lang="en-IN" dirty="0"/>
            </a:br>
            <a:r>
              <a:rPr lang="en-IN" dirty="0"/>
              <a:t>Central transaction table</a:t>
            </a:r>
          </a:p>
          <a:p>
            <a:endParaRPr lang="en-IN" dirty="0"/>
          </a:p>
          <a:p>
            <a:r>
              <a:rPr lang="en-IN" b="1" dirty="0">
                <a:solidFill>
                  <a:srgbClr val="000000"/>
                </a:solidFill>
                <a:latin typeface="Aptos Slab Black" panose="020F0502020204030204" pitchFamily="34" charset="0"/>
                <a:cs typeface="Arial"/>
              </a:rPr>
              <a:t>CALENDAR TABLE</a:t>
            </a:r>
            <a:br>
              <a:rPr lang="en-IN" dirty="0"/>
            </a:br>
            <a:r>
              <a:rPr lang="en-IN" dirty="0"/>
              <a:t>Time-based analysis</a:t>
            </a:r>
          </a:p>
          <a:p>
            <a:endParaRPr lang="en-IN" dirty="0"/>
          </a:p>
          <a:p>
            <a:r>
              <a:rPr lang="en-IN" b="1" dirty="0">
                <a:solidFill>
                  <a:srgbClr val="000000"/>
                </a:solidFill>
                <a:latin typeface="Aptos Slab Black" panose="020F0502020204030204" pitchFamily="34" charset="0"/>
                <a:cs typeface="Arial"/>
              </a:rPr>
              <a:t>PEOPLE</a:t>
            </a:r>
            <a:br>
              <a:rPr lang="en-IN" dirty="0"/>
            </a:br>
            <a:r>
              <a:rPr lang="en-IN" dirty="0"/>
              <a:t>Region &amp; manager mapping</a:t>
            </a:r>
          </a:p>
          <a:p>
            <a:endParaRPr lang="en-IN" dirty="0"/>
          </a:p>
          <a:p>
            <a:r>
              <a:rPr lang="en-IN" b="1" dirty="0">
                <a:solidFill>
                  <a:srgbClr val="000000"/>
                </a:solidFill>
                <a:latin typeface="Aptos Slab Black" panose="020F0502020204030204" pitchFamily="34" charset="0"/>
                <a:cs typeface="Arial"/>
              </a:rPr>
              <a:t>RETURNS</a:t>
            </a:r>
            <a:br>
              <a:rPr lang="en-IN" dirty="0"/>
            </a:br>
            <a:r>
              <a:rPr lang="en-IN" dirty="0"/>
              <a:t>Returned order information</a:t>
            </a:r>
          </a:p>
          <a:p>
            <a:endParaRPr lang="en-IN" dirty="0"/>
          </a:p>
          <a:p>
            <a:r>
              <a:rPr lang="en-IN" b="1" dirty="0">
                <a:solidFill>
                  <a:srgbClr val="000000"/>
                </a:solidFill>
                <a:latin typeface="Aptos Slab Black" panose="020F0502020204030204" pitchFamily="34" charset="0"/>
                <a:cs typeface="Arial"/>
              </a:rPr>
              <a:t>MODEL</a:t>
            </a:r>
            <a:r>
              <a:rPr lang="en-IN" b="1" dirty="0"/>
              <a:t> </a:t>
            </a:r>
            <a:r>
              <a:rPr lang="en-IN" b="1" dirty="0">
                <a:solidFill>
                  <a:srgbClr val="000000"/>
                </a:solidFill>
                <a:latin typeface="Aptos Slab Black" panose="020F0502020204030204" pitchFamily="34" charset="0"/>
                <a:cs typeface="Arial"/>
              </a:rPr>
              <a:t>TYPE</a:t>
            </a:r>
            <a:br>
              <a:rPr lang="en-IN" dirty="0"/>
            </a:br>
            <a:r>
              <a:rPr lang="en-IN" dirty="0"/>
              <a:t>Star-schema-style structure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482A3B-FA45-1AC5-ADBC-B06B4ADEE8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93" t="2117" r="3911" b="8997"/>
          <a:stretch>
            <a:fillRect/>
          </a:stretch>
        </p:blipFill>
        <p:spPr>
          <a:xfrm>
            <a:off x="5791672" y="1464058"/>
            <a:ext cx="5598915" cy="4166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695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8EAE6-D9AE-7F29-970D-B766B0237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5925" y="130060"/>
            <a:ext cx="3224752" cy="832079"/>
          </a:xfrm>
        </p:spPr>
        <p:txBody>
          <a:bodyPr>
            <a:normAutofit/>
          </a:bodyPr>
          <a:lstStyle/>
          <a:p>
            <a:r>
              <a:rPr lang="en-IN" sz="2900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DAX</a:t>
            </a:r>
            <a:r>
              <a:rPr lang="en-IN" sz="3600" dirty="0"/>
              <a:t> </a:t>
            </a:r>
            <a:r>
              <a:rPr lang="en-IN" sz="2900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MEASURES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B925F1-20E3-B5FB-E607-E5F49AB14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24699" y="977155"/>
            <a:ext cx="4996992" cy="5205213"/>
          </a:xfrm>
        </p:spPr>
        <p:txBody>
          <a:bodyPr>
            <a:normAutofit fontScale="47500" lnSpcReduction="20000"/>
          </a:bodyPr>
          <a:lstStyle/>
          <a:p>
            <a:pPr marL="114300" indent="0">
              <a:buNone/>
            </a:pPr>
            <a:r>
              <a:rPr lang="en-IN" sz="3600" b="1" dirty="0">
                <a:solidFill>
                  <a:schemeClr val="accent1">
                    <a:lumMod val="50000"/>
                  </a:schemeClr>
                </a:solidFill>
                <a:latin typeface="Congenial Black" panose="02000503040000020004" pitchFamily="2" charset="0"/>
              </a:rPr>
              <a:t>KEY</a:t>
            </a:r>
            <a:r>
              <a:rPr lang="en-IN" b="1" dirty="0">
                <a:latin typeface="Congenial Black" panose="02000503040000020004" pitchFamily="2" charset="0"/>
              </a:rPr>
              <a:t>  </a:t>
            </a:r>
            <a:r>
              <a:rPr lang="en-IN" sz="3600" b="1" dirty="0">
                <a:solidFill>
                  <a:schemeClr val="accent1">
                    <a:lumMod val="50000"/>
                  </a:schemeClr>
                </a:solidFill>
                <a:latin typeface="Congenial Black" panose="02000503040000020004" pitchFamily="2" charset="0"/>
              </a:rPr>
              <a:t>DAX</a:t>
            </a:r>
            <a:r>
              <a:rPr lang="en-IN" b="1" dirty="0">
                <a:latin typeface="Congenial Black" panose="02000503040000020004" pitchFamily="2" charset="0"/>
              </a:rPr>
              <a:t>  </a:t>
            </a:r>
            <a:r>
              <a:rPr lang="en-IN" sz="3600" b="1" dirty="0">
                <a:solidFill>
                  <a:schemeClr val="accent1">
                    <a:lumMod val="50000"/>
                  </a:schemeClr>
                </a:solidFill>
                <a:latin typeface="Congenial Black" panose="02000503040000020004" pitchFamily="2" charset="0"/>
              </a:rPr>
              <a:t>MEASURES</a:t>
            </a:r>
          </a:p>
          <a:p>
            <a:pPr marL="571500" indent="-457200">
              <a:lnSpc>
                <a:spcPct val="170000"/>
              </a:lnSpc>
              <a:buFont typeface="+mj-lt"/>
              <a:buAutoNum type="arabicPeriod"/>
            </a:pPr>
            <a:r>
              <a:rPr lang="en-IN" sz="3800" b="1" dirty="0"/>
              <a:t>Sales &amp; Orders</a:t>
            </a:r>
            <a:endParaRPr lang="en-IN" sz="3800" dirty="0"/>
          </a:p>
          <a:p>
            <a:pPr lvl="1"/>
            <a:r>
              <a:rPr lang="en-IN" sz="3200" dirty="0"/>
              <a:t>Total Sales </a:t>
            </a:r>
          </a:p>
          <a:p>
            <a:pPr lvl="1"/>
            <a:r>
              <a:rPr lang="en-IN" sz="3200" dirty="0"/>
              <a:t>Total Orders </a:t>
            </a:r>
          </a:p>
          <a:p>
            <a:pPr lvl="1"/>
            <a:r>
              <a:rPr lang="en-IN" sz="3200" dirty="0"/>
              <a:t>Total Quantity </a:t>
            </a:r>
          </a:p>
          <a:p>
            <a:pPr lvl="1"/>
            <a:r>
              <a:rPr lang="en-IN" sz="3200" dirty="0"/>
              <a:t>Average Order Value </a:t>
            </a:r>
          </a:p>
          <a:p>
            <a:pPr lvl="1"/>
            <a:endParaRPr lang="en-IN" sz="3200" dirty="0"/>
          </a:p>
          <a:p>
            <a:pPr marL="571500" indent="-457200">
              <a:buFont typeface="+mj-lt"/>
              <a:buAutoNum type="arabicPeriod"/>
            </a:pPr>
            <a:r>
              <a:rPr lang="en-IN" sz="4500" b="1" dirty="0"/>
              <a:t>Profitability</a:t>
            </a:r>
            <a:endParaRPr lang="en-IN" sz="4500" dirty="0"/>
          </a:p>
          <a:p>
            <a:pPr lvl="1"/>
            <a:r>
              <a:rPr lang="en-IN" sz="3200" dirty="0"/>
              <a:t>Total Profit </a:t>
            </a:r>
          </a:p>
          <a:p>
            <a:pPr lvl="1"/>
            <a:r>
              <a:rPr lang="en-IN" sz="3200" dirty="0"/>
              <a:t>Profit Margin % </a:t>
            </a:r>
          </a:p>
          <a:p>
            <a:pPr lvl="1"/>
            <a:endParaRPr lang="en-IN" sz="3200" dirty="0"/>
          </a:p>
          <a:p>
            <a:pPr marL="571500" indent="-457200">
              <a:buFont typeface="+mj-lt"/>
              <a:buAutoNum type="arabicPeriod"/>
            </a:pPr>
            <a:r>
              <a:rPr lang="en-IN" sz="4400" b="1" dirty="0"/>
              <a:t>Returns</a:t>
            </a:r>
            <a:endParaRPr lang="en-IN" sz="4400" dirty="0"/>
          </a:p>
          <a:p>
            <a:pPr lvl="1"/>
            <a:r>
              <a:rPr lang="en-IN" sz="3200" dirty="0"/>
              <a:t>Returned Orders </a:t>
            </a:r>
          </a:p>
          <a:p>
            <a:pPr lvl="1"/>
            <a:r>
              <a:rPr lang="en-IN" sz="3200" dirty="0"/>
              <a:t>Return Rate % </a:t>
            </a:r>
          </a:p>
          <a:p>
            <a:pPr lvl="1"/>
            <a:endParaRPr lang="en-IN" sz="3200" dirty="0"/>
          </a:p>
          <a:p>
            <a:pPr marL="571500" indent="-457200">
              <a:buFont typeface="+mj-lt"/>
              <a:buAutoNum type="arabicPeriod"/>
            </a:pPr>
            <a:r>
              <a:rPr lang="en-IN" sz="4400" b="1" dirty="0"/>
              <a:t>Shipping</a:t>
            </a:r>
            <a:endParaRPr lang="en-IN" sz="4400" dirty="0"/>
          </a:p>
          <a:p>
            <a:pPr lvl="1"/>
            <a:r>
              <a:rPr lang="en-IN" sz="3200" dirty="0"/>
              <a:t>Average Shipping Cost </a:t>
            </a:r>
          </a:p>
          <a:p>
            <a:pPr lvl="1"/>
            <a:r>
              <a:rPr lang="en-IN" sz="3200" dirty="0"/>
              <a:t>Average Shipping Days 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B45AAF-82D6-410E-14EF-CA8324887843}"/>
              </a:ext>
            </a:extLst>
          </p:cNvPr>
          <p:cNvSpPr txBox="1"/>
          <p:nvPr/>
        </p:nvSpPr>
        <p:spPr>
          <a:xfrm>
            <a:off x="1942597" y="6311900"/>
            <a:ext cx="6865982" cy="3385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IN" sz="1600" b="1" dirty="0">
                <a:latin typeface="Aptos Black" panose="020B0004020202020204" pitchFamily="34" charset="0"/>
              </a:rPr>
              <a:t>Measures</a:t>
            </a:r>
            <a:r>
              <a:rPr lang="en-IN" sz="1600" b="1" dirty="0"/>
              <a:t> </a:t>
            </a:r>
            <a:r>
              <a:rPr lang="en-IN" sz="1600" b="1" dirty="0">
                <a:latin typeface="Aptos Black" panose="020B0004020202020204" pitchFamily="34" charset="0"/>
              </a:rPr>
              <a:t>created using DAX for dynamic KPI and business analysis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A16C414-AB10-8B61-4571-5246D09F2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9897" y="1282948"/>
            <a:ext cx="3395663" cy="4292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305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6BEB5EB-BA4D-E861-F41A-6AC9B5068CE4}"/>
              </a:ext>
            </a:extLst>
          </p:cNvPr>
          <p:cNvSpPr txBox="1"/>
          <p:nvPr/>
        </p:nvSpPr>
        <p:spPr>
          <a:xfrm>
            <a:off x="2690682" y="-28280"/>
            <a:ext cx="71436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360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defRPr>
            </a:lvl1pPr>
          </a:lstStyle>
          <a:p>
            <a:r>
              <a:rPr lang="en-IN" sz="3200" dirty="0"/>
              <a:t>Dashboard Design &amp; Visualizations</a:t>
            </a:r>
            <a:endParaRPr lang="en-IN" sz="29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32CDC56-D623-6589-DF18-955D9C8226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517" t="18698" r="15345" b="6749"/>
          <a:stretch>
            <a:fillRect/>
          </a:stretch>
        </p:blipFill>
        <p:spPr>
          <a:xfrm>
            <a:off x="6262524" y="556495"/>
            <a:ext cx="5077788" cy="281656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8AB6416-0F9B-EE41-088F-33DAC213856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517" t="18698" r="15345" b="6749"/>
          <a:stretch>
            <a:fillRect/>
          </a:stretch>
        </p:blipFill>
        <p:spPr>
          <a:xfrm>
            <a:off x="851688" y="3594697"/>
            <a:ext cx="5077788" cy="281657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B11D3F7-D3A5-0EB6-62AF-48E76C2BA02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690" t="18851" r="15172" b="6749"/>
          <a:stretch>
            <a:fillRect/>
          </a:stretch>
        </p:blipFill>
        <p:spPr>
          <a:xfrm>
            <a:off x="6262524" y="3594697"/>
            <a:ext cx="5077788" cy="281656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E40F116-FF53-0E17-D875-3911E117A09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1191" t="19007" r="15067" b="6295"/>
          <a:stretch>
            <a:fillRect/>
          </a:stretch>
        </p:blipFill>
        <p:spPr>
          <a:xfrm>
            <a:off x="851688" y="556495"/>
            <a:ext cx="5077788" cy="2816569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389D9773-28CA-272F-658C-89D07327AA39}"/>
              </a:ext>
            </a:extLst>
          </p:cNvPr>
          <p:cNvSpPr txBox="1"/>
          <p:nvPr/>
        </p:nvSpPr>
        <p:spPr>
          <a:xfrm>
            <a:off x="1122711" y="6411267"/>
            <a:ext cx="9613529" cy="3385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IN" sz="1600" b="1" dirty="0">
                <a:latin typeface="Aptos Black" panose="020B0004020202020204" pitchFamily="34" charset="0"/>
              </a:rPr>
              <a:t>Interactive</a:t>
            </a:r>
            <a:r>
              <a:rPr lang="en-IN" sz="1600" dirty="0"/>
              <a:t> </a:t>
            </a:r>
            <a:r>
              <a:rPr lang="en-IN" sz="1600" b="1" dirty="0">
                <a:latin typeface="Aptos Black" panose="020B0004020202020204" pitchFamily="34" charset="0"/>
              </a:rPr>
              <a:t>Power</a:t>
            </a:r>
            <a:r>
              <a:rPr lang="en-IN" sz="1600" dirty="0"/>
              <a:t> </a:t>
            </a:r>
            <a:r>
              <a:rPr lang="en-IN" sz="1600" b="1" dirty="0">
                <a:latin typeface="Aptos Black" panose="020B0004020202020204" pitchFamily="34" charset="0"/>
              </a:rPr>
              <a:t>BI dashboard for sales, profitability, returns and regional performance analysis</a:t>
            </a:r>
          </a:p>
        </p:txBody>
      </p:sp>
    </p:spTree>
    <p:extLst>
      <p:ext uri="{BB962C8B-B14F-4D97-AF65-F5344CB8AC3E}">
        <p14:creationId xmlns:p14="http://schemas.microsoft.com/office/powerpoint/2010/main" val="2761624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11F24551-B06E-EA20-7293-5D58635E09E4}"/>
              </a:ext>
            </a:extLst>
          </p:cNvPr>
          <p:cNvSpPr txBox="1"/>
          <p:nvPr/>
        </p:nvSpPr>
        <p:spPr>
          <a:xfrm>
            <a:off x="4256792" y="28280"/>
            <a:ext cx="3678416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900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Calibri"/>
              </a:rPr>
              <a:t>FINAL DASHBOARD</a:t>
            </a:r>
            <a:r>
              <a:rPr lang="en-IN" sz="2900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3BEFF0-E6DA-44DF-5E4C-8972A441823D}"/>
              </a:ext>
            </a:extLst>
          </p:cNvPr>
          <p:cNvSpPr/>
          <p:nvPr/>
        </p:nvSpPr>
        <p:spPr>
          <a:xfrm>
            <a:off x="8823489" y="6080289"/>
            <a:ext cx="3368511" cy="7777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353AF6-1CD2-04E9-DBBD-4CB0D7A97F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790" t="18622" r="15053" b="6606"/>
          <a:stretch>
            <a:fillRect/>
          </a:stretch>
        </p:blipFill>
        <p:spPr>
          <a:xfrm>
            <a:off x="326796" y="566889"/>
            <a:ext cx="11538407" cy="6072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674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0C09D6A-B16E-73BA-0BF3-DFF8415E1209}"/>
              </a:ext>
            </a:extLst>
          </p:cNvPr>
          <p:cNvSpPr/>
          <p:nvPr/>
        </p:nvSpPr>
        <p:spPr>
          <a:xfrm>
            <a:off x="8823489" y="6080289"/>
            <a:ext cx="3368511" cy="7777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9CE02E-0D91-EEB7-5292-956B443F7F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567"/>
          <a:stretch>
            <a:fillRect/>
          </a:stretch>
        </p:blipFill>
        <p:spPr>
          <a:xfrm>
            <a:off x="180489" y="723155"/>
            <a:ext cx="11831022" cy="59133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C7929A-7B7D-CFF3-904A-60929971AD20}"/>
              </a:ext>
            </a:extLst>
          </p:cNvPr>
          <p:cNvSpPr txBox="1"/>
          <p:nvPr/>
        </p:nvSpPr>
        <p:spPr>
          <a:xfrm>
            <a:off x="2386552" y="138380"/>
            <a:ext cx="74188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KEY</a:t>
            </a:r>
            <a:r>
              <a:rPr lang="en-IN" dirty="0"/>
              <a:t> </a:t>
            </a:r>
            <a:r>
              <a:rPr lang="en-IN" sz="3200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BUSINESS INSIGHTS &amp; FINDINGS</a:t>
            </a:r>
          </a:p>
        </p:txBody>
      </p:sp>
    </p:spTree>
    <p:extLst>
      <p:ext uri="{BB962C8B-B14F-4D97-AF65-F5344CB8AC3E}">
        <p14:creationId xmlns:p14="http://schemas.microsoft.com/office/powerpoint/2010/main" val="28998030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582C508-80F1-1DE0-1D54-4AC2F5A01A6E}"/>
              </a:ext>
            </a:extLst>
          </p:cNvPr>
          <p:cNvSpPr/>
          <p:nvPr/>
        </p:nvSpPr>
        <p:spPr>
          <a:xfrm>
            <a:off x="8823489" y="6080289"/>
            <a:ext cx="3368511" cy="7777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44948A-A52E-69E3-1C3D-847AFD8199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108"/>
          <a:stretch>
            <a:fillRect/>
          </a:stretch>
        </p:blipFill>
        <p:spPr>
          <a:xfrm>
            <a:off x="87322" y="714702"/>
            <a:ext cx="11820899" cy="58473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37D3E8-51D9-FFA2-9317-E701967967EA}"/>
              </a:ext>
            </a:extLst>
          </p:cNvPr>
          <p:cNvSpPr txBox="1"/>
          <p:nvPr/>
        </p:nvSpPr>
        <p:spPr>
          <a:xfrm>
            <a:off x="2479249" y="150828"/>
            <a:ext cx="756029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CONCLUSION</a:t>
            </a:r>
            <a:r>
              <a:rPr lang="en-IN" b="1" dirty="0"/>
              <a:t> </a:t>
            </a:r>
            <a:r>
              <a:rPr lang="en-IN" sz="3200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&amp; RECOMMENDATIONS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42083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FB4E18C-3475-8ED0-1E59-A3AFA4EC5F1B}"/>
              </a:ext>
            </a:extLst>
          </p:cNvPr>
          <p:cNvSpPr/>
          <p:nvPr/>
        </p:nvSpPr>
        <p:spPr>
          <a:xfrm>
            <a:off x="8823489" y="6080289"/>
            <a:ext cx="3368511" cy="7777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592569-8629-ED9D-14D1-B171702A07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874"/>
          <a:stretch>
            <a:fillRect/>
          </a:stretch>
        </p:blipFill>
        <p:spPr>
          <a:xfrm>
            <a:off x="308679" y="793557"/>
            <a:ext cx="11574640" cy="56755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511C0C-72F0-86D0-7796-23A8CEE2B8EF}"/>
              </a:ext>
            </a:extLst>
          </p:cNvPr>
          <p:cNvSpPr txBox="1"/>
          <p:nvPr/>
        </p:nvSpPr>
        <p:spPr>
          <a:xfrm>
            <a:off x="1788570" y="206851"/>
            <a:ext cx="86148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CHALLENGES FACED DURING THE PROJECT</a:t>
            </a:r>
          </a:p>
        </p:txBody>
      </p:sp>
    </p:spTree>
    <p:extLst>
      <p:ext uri="{BB962C8B-B14F-4D97-AF65-F5344CB8AC3E}">
        <p14:creationId xmlns:p14="http://schemas.microsoft.com/office/powerpoint/2010/main" val="22169839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4E75A6-4F00-A62D-EAAB-17155D3A59C4}"/>
              </a:ext>
            </a:extLst>
          </p:cNvPr>
          <p:cNvSpPr/>
          <p:nvPr/>
        </p:nvSpPr>
        <p:spPr>
          <a:xfrm>
            <a:off x="8823489" y="6080289"/>
            <a:ext cx="3368511" cy="7777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3C4B43-E0E0-C43B-D499-C60882B166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196"/>
          <a:stretch>
            <a:fillRect/>
          </a:stretch>
        </p:blipFill>
        <p:spPr>
          <a:xfrm>
            <a:off x="295470" y="904972"/>
            <a:ext cx="11337206" cy="55385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5B6233-E49B-BE7D-2841-ECA374FD6140}"/>
              </a:ext>
            </a:extLst>
          </p:cNvPr>
          <p:cNvSpPr txBox="1"/>
          <p:nvPr/>
        </p:nvSpPr>
        <p:spPr>
          <a:xfrm>
            <a:off x="3531422" y="198153"/>
            <a:ext cx="51291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FUTURE IMPROVEMENTS</a:t>
            </a:r>
          </a:p>
        </p:txBody>
      </p:sp>
    </p:spTree>
    <p:extLst>
      <p:ext uri="{BB962C8B-B14F-4D97-AF65-F5344CB8AC3E}">
        <p14:creationId xmlns:p14="http://schemas.microsoft.com/office/powerpoint/2010/main" val="637588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852129-FFD4-4A4E-FDAD-8ACC2C42B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2756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1593</TotalTime>
  <Words>556</Words>
  <Application>Microsoft Office PowerPoint</Application>
  <PresentationFormat>Widescreen</PresentationFormat>
  <Paragraphs>138</Paragraphs>
  <Slides>18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ADLaM Display</vt:lpstr>
      <vt:lpstr>Aptos Black</vt:lpstr>
      <vt:lpstr>Aptos Slab Black</vt:lpstr>
      <vt:lpstr>Congenial Black</vt:lpstr>
      <vt:lpstr>Calibri</vt:lpstr>
      <vt:lpstr>Arial</vt:lpstr>
      <vt:lpstr>Baskerville Old Face</vt:lpstr>
      <vt:lpstr>Lato Black</vt:lpstr>
      <vt:lpstr>Libre Baskerville</vt:lpstr>
      <vt:lpstr>Office Theme</vt:lpstr>
      <vt:lpstr>PowerPoint Presentation</vt:lpstr>
      <vt:lpstr>PowerPoint Presentation</vt:lpstr>
      <vt:lpstr>Agenda</vt:lpstr>
      <vt:lpstr>PowerPoint Presentation</vt:lpstr>
      <vt:lpstr>BUSINESS REQUIREMENTS &amp;  KEY ANALYSIS QUESTIONS</vt:lpstr>
      <vt:lpstr>RAW DATASET</vt:lpstr>
      <vt:lpstr>DATA CLEANING &amp; TRANSFORMATION</vt:lpstr>
      <vt:lpstr>FINAL DATASET OVERVIEW</vt:lpstr>
      <vt:lpstr>DATA MODEL &amp; RELATIONSHIPS</vt:lpstr>
      <vt:lpstr>DAX MEASURES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mahek bagai</dc:creator>
  <cp:lastModifiedBy>mahek bagai</cp:lastModifiedBy>
  <cp:revision>5</cp:revision>
  <dcterms:created xsi:type="dcterms:W3CDTF">2021-02-16T05:19:01Z</dcterms:created>
  <dcterms:modified xsi:type="dcterms:W3CDTF">2026-10-09T13:37:02Z</dcterms:modified>
</cp:coreProperties>
</file>